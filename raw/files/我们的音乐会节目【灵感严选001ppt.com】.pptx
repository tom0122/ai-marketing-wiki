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7" Type="http://schemas.openxmlformats.org/officeDocument/2006/relationships/viewProps" Target="viewProps.xml"/><Relationship Id="rId16" Type="http://schemas.openxmlformats.org/officeDocument/2006/relationships/tableStyles" Target="tableStyles.xml"/><Relationship Id="rId15" Type="http://schemas.openxmlformats.org/officeDocument/2006/relationships/presProps" Target="presProps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Relationship Id="rId3" Type="http://schemas.openxmlformats.org/officeDocument/2006/relationships/image" Target="../media/image19.png"/><Relationship Id="rId2" Type="http://schemas.openxmlformats.org/officeDocument/2006/relationships/image" Target="../media/image14.jpeg"/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14.jpeg"/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30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8.jpeg"/><Relationship Id="rId3" Type="http://schemas.openxmlformats.org/officeDocument/2006/relationships/image" Target="../media/image37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4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9EDF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412492" y="1040892"/>
            <a:ext cx="7403593" cy="4158995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3491483" y="4393692"/>
            <a:ext cx="5751575" cy="419100"/>
            <a:chOff x="0" y="0"/>
            <a:chExt cx="5751575" cy="419100"/>
          </a:xfrm>
        </p:grpSpPr>
        <p:sp>
          <p:nvSpPr>
            <p:cNvPr id="6" name="path 6"/>
            <p:cNvSpPr/>
            <p:nvPr/>
          </p:nvSpPr>
          <p:spPr>
            <a:xfrm>
              <a:off x="0" y="0"/>
              <a:ext cx="1066800" cy="419100"/>
            </a:xfrm>
            <a:custGeom>
              <a:avLst/>
              <a:gdLst/>
              <a:ahLst/>
              <a:cxnLst/>
              <a:rect l="0" t="0" r="0" b="0"/>
              <a:pathLst>
                <a:path w="1680" h="660">
                  <a:moveTo>
                    <a:pt x="0" y="0"/>
                  </a:moveTo>
                  <a:lnTo>
                    <a:pt x="1680" y="0"/>
                  </a:lnTo>
                  <a:lnTo>
                    <a:pt x="1680" y="660"/>
                  </a:lnTo>
                  <a:lnTo>
                    <a:pt x="0" y="6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4F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" name="path 8"/>
            <p:cNvSpPr/>
            <p:nvPr/>
          </p:nvSpPr>
          <p:spPr>
            <a:xfrm>
              <a:off x="914400" y="0"/>
              <a:ext cx="4837175" cy="419100"/>
            </a:xfrm>
            <a:custGeom>
              <a:avLst/>
              <a:gdLst/>
              <a:ahLst/>
              <a:cxnLst/>
              <a:rect l="0" t="0" r="0" b="0"/>
              <a:pathLst>
                <a:path w="7617" h="660">
                  <a:moveTo>
                    <a:pt x="240" y="0"/>
                  </a:moveTo>
                  <a:lnTo>
                    <a:pt x="7617" y="0"/>
                  </a:lnTo>
                  <a:lnTo>
                    <a:pt x="7617" y="660"/>
                  </a:lnTo>
                  <a:lnTo>
                    <a:pt x="240" y="660"/>
                  </a:lnTo>
                  <a:lnTo>
                    <a:pt x="240" y="0"/>
                  </a:lnTo>
                  <a:close/>
                </a:path>
                <a:path w="7617" h="660">
                  <a:moveTo>
                    <a:pt x="0" y="660"/>
                  </a:moveTo>
                  <a:lnTo>
                    <a:pt x="249" y="360"/>
                  </a:lnTo>
                  <a:lnTo>
                    <a:pt x="499" y="660"/>
                  </a:lnTo>
                  <a:lnTo>
                    <a:pt x="0" y="660"/>
                  </a:lnTo>
                </a:path>
              </a:pathLst>
            </a:custGeom>
            <a:solidFill>
              <a:srgbClr val="034DC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2381567" y="0"/>
          <a:ext cx="9810115" cy="6857365"/>
        </p:xfrm>
        <a:graphic>
          <a:graphicData uri="http://schemas.openxmlformats.org/drawingml/2006/table">
            <a:tbl>
              <a:tblPr/>
              <a:tblGrid>
                <a:gridCol w="2131695"/>
                <a:gridCol w="655320"/>
                <a:gridCol w="909320"/>
                <a:gridCol w="2174240"/>
                <a:gridCol w="140970"/>
                <a:gridCol w="1435100"/>
                <a:gridCol w="2363470"/>
              </a:tblGrid>
              <a:tr h="1038225"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571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3900" b="1" kern="0" spc="260" dirty="0">
                          <a:solidFill>
                            <a:srgbClr val="FFFF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OUR</a:t>
                      </a:r>
                      <a:r>
                        <a:rPr sz="3900" kern="0" spc="1070" dirty="0">
                          <a:solidFill>
                            <a:srgbClr val="FFFF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3900" b="1" kern="0" spc="260" dirty="0">
                          <a:solidFill>
                            <a:srgbClr val="FFFF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</a:t>
                      </a:r>
                      <a:r>
                        <a:rPr sz="6100" b="1" kern="0" spc="-2000" baseline="-9392" dirty="0">
                          <a:solidFill>
                            <a:srgbClr val="0B2285">
                              <a:alpha val="23921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</a:t>
                      </a:r>
                      <a:r>
                        <a:rPr sz="3900" kern="0" spc="700" dirty="0">
                          <a:solidFill>
                            <a:srgbClr val="0B2285">
                              <a:alpha val="23921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3900" b="1" kern="0" spc="520" dirty="0">
                          <a:solidFill>
                            <a:srgbClr val="FFFF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CONCERT</a:t>
                      </a:r>
                      <a:endParaRPr sz="3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6395" algn="l" rtl="0" eaLnBrk="0">
                        <a:lnSpc>
                          <a:spcPct val="92000"/>
                        </a:lnSpc>
                        <a:tabLst/>
                      </a:pPr>
                      <a:r>
                        <a:rPr sz="3200" b="1" kern="0" spc="-50" dirty="0">
                          <a:solidFill>
                            <a:srgbClr val="0B2285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酷旅传媒</a:t>
                      </a:r>
                      <a:endParaRPr sz="3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1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725">
                <a:tc gridSpan="6" rowSpan="2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28725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赋能行动</a:t>
                      </a: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</a:t>
                      </a: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</a:t>
                      </a:r>
                      <a:r>
                        <a:rPr sz="1500" kern="0" spc="5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</a:t>
                      </a:r>
                      <a:r>
                        <a:rPr sz="1500" kern="0" spc="4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</a:t>
                      </a:r>
                      <a:r>
                        <a:rPr sz="1500" kern="0" spc="3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思</a:t>
                      </a:r>
                      <a:r>
                        <a:rPr sz="1500" kern="0" spc="3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</a:t>
                      </a:r>
                      <a:r>
                        <a:rPr sz="1500" kern="0" spc="3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玩</a:t>
                      </a:r>
                      <a:r>
                        <a:rPr sz="1500" kern="0" spc="3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转</a:t>
                      </a:r>
                      <a:r>
                        <a:rPr sz="1500" kern="0" spc="4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</a:t>
                      </a:r>
                      <a:r>
                        <a:rPr sz="1500" kern="0" spc="4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</a:t>
                      </a:r>
                      <a:r>
                        <a:rPr sz="1500" kern="0" spc="3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</a:t>
                      </a:r>
                      <a:r>
                        <a:rPr sz="1500" kern="0" spc="3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综</a:t>
                      </a:r>
                      <a:r>
                        <a:rPr sz="1500" kern="0" spc="4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艺</a:t>
                      </a:r>
                      <a:r>
                        <a:rPr sz="1500" kern="0" spc="4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营</a:t>
                      </a:r>
                      <a:r>
                        <a:rPr sz="1500" kern="0" spc="4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销</a:t>
                      </a:r>
                      <a:endParaRPr sz="15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 gridSpan="6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657350"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4700" b="1" kern="0" spc="40" dirty="0">
                          <a:solidFill>
                            <a:srgbClr val="FFF1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音乐旅行共创真人秀</a:t>
                      </a:r>
                      <a:endParaRPr sz="4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4925" cap="flat" cmpd="sng" algn="ctr">
                      <a:solidFill>
                        <a:srgbClr val="0B2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110617" y="2112645"/>
            <a:ext cx="2113991" cy="1734769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509518" y="1427703"/>
            <a:ext cx="1159102" cy="3024694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630805" y="2241931"/>
            <a:ext cx="1855978" cy="1644853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93027" y="871309"/>
            <a:ext cx="1488170" cy="1185455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257982" y="5490703"/>
            <a:ext cx="1604590" cy="946433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69215" y="5279929"/>
            <a:ext cx="1323027" cy="1098743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280438" y="2398839"/>
            <a:ext cx="1058455" cy="1281086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194389" y="2415882"/>
            <a:ext cx="851001" cy="1068361"/>
          </a:xfrm>
          <a:prstGeom prst="rect">
            <a:avLst/>
          </a:prstGeom>
        </p:spPr>
      </p:pic>
      <p:sp>
        <p:nvSpPr>
          <p:cNvPr id="28" name="path 28"/>
          <p:cNvSpPr/>
          <p:nvPr/>
        </p:nvSpPr>
        <p:spPr>
          <a:xfrm>
            <a:off x="4540263" y="2383561"/>
            <a:ext cx="602995" cy="1422717"/>
          </a:xfrm>
          <a:custGeom>
            <a:avLst/>
            <a:gdLst/>
            <a:ahLst/>
            <a:cxnLst/>
            <a:rect l="0" t="0" r="0" b="0"/>
            <a:pathLst>
              <a:path w="949" h="2240">
                <a:moveTo>
                  <a:pt x="693" y="132"/>
                </a:moveTo>
                <a:lnTo>
                  <a:pt x="949" y="2222"/>
                </a:lnTo>
                <a:lnTo>
                  <a:pt x="807" y="2240"/>
                </a:lnTo>
                <a:lnTo>
                  <a:pt x="693" y="1305"/>
                </a:lnTo>
                <a:lnTo>
                  <a:pt x="693" y="132"/>
                </a:lnTo>
              </a:path>
              <a:path w="949" h="2240">
                <a:moveTo>
                  <a:pt x="692" y="0"/>
                </a:moveTo>
                <a:lnTo>
                  <a:pt x="708" y="132"/>
                </a:lnTo>
                <a:lnTo>
                  <a:pt x="708" y="1305"/>
                </a:lnTo>
                <a:lnTo>
                  <a:pt x="596" y="395"/>
                </a:lnTo>
                <a:lnTo>
                  <a:pt x="46" y="462"/>
                </a:lnTo>
                <a:lnTo>
                  <a:pt x="0" y="85"/>
                </a:lnTo>
                <a:lnTo>
                  <a:pt x="692" y="0"/>
                </a:lnTo>
              </a:path>
            </a:pathLst>
          </a:custGeom>
          <a:solidFill>
            <a:srgbClr val="FFF1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" name="group 4"/>
          <p:cNvGrpSpPr/>
          <p:nvPr/>
        </p:nvGrpSpPr>
        <p:grpSpPr>
          <a:xfrm rot="21600000">
            <a:off x="705060" y="3264946"/>
            <a:ext cx="891408" cy="853743"/>
            <a:chOff x="0" y="0"/>
            <a:chExt cx="891408" cy="853743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891408" cy="853743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-12700" y="-12700"/>
              <a:ext cx="916939" cy="8794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03530" algn="l" rtl="0" eaLnBrk="0">
                <a:lnSpc>
                  <a:spcPts val="3727"/>
                </a:lnSpc>
                <a:tabLst/>
              </a:pPr>
              <a:r>
                <a:rPr sz="5800" kern="0" spc="30" dirty="0">
                  <a:solidFill>
                    <a:srgbClr val="3A3B66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&gt;</a:t>
              </a:r>
              <a:endParaRPr sz="5800" dirty="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672237" y="5624243"/>
            <a:ext cx="879385" cy="854614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1430" y="2770187"/>
            <a:ext cx="2376005" cy="3492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4130" y="4548187"/>
            <a:ext cx="2362200" cy="34925"/>
          </a:xfrm>
          <a:prstGeom prst="rect">
            <a:avLst/>
          </a:prstGeom>
        </p:spPr>
      </p:pic>
      <p:sp>
        <p:nvSpPr>
          <p:cNvPr id="40" name="path 40"/>
          <p:cNvSpPr/>
          <p:nvPr/>
        </p:nvSpPr>
        <p:spPr>
          <a:xfrm>
            <a:off x="4183532" y="2375331"/>
            <a:ext cx="255651" cy="233298"/>
          </a:xfrm>
          <a:custGeom>
            <a:avLst/>
            <a:gdLst/>
            <a:ahLst/>
            <a:cxnLst/>
            <a:rect l="0" t="0" r="0" b="0"/>
            <a:pathLst>
              <a:path w="402" h="367">
                <a:moveTo>
                  <a:pt x="63" y="0"/>
                </a:moveTo>
                <a:cubicBezTo>
                  <a:pt x="124" y="26"/>
                  <a:pt x="183" y="58"/>
                  <a:pt x="241" y="92"/>
                </a:cubicBezTo>
                <a:cubicBezTo>
                  <a:pt x="299" y="127"/>
                  <a:pt x="353" y="164"/>
                  <a:pt x="402" y="202"/>
                </a:cubicBezTo>
                <a:lnTo>
                  <a:pt x="276" y="367"/>
                </a:lnTo>
                <a:cubicBezTo>
                  <a:pt x="236" y="317"/>
                  <a:pt x="191" y="268"/>
                  <a:pt x="143" y="219"/>
                </a:cubicBezTo>
                <a:cubicBezTo>
                  <a:pt x="95" y="170"/>
                  <a:pt x="47" y="126"/>
                  <a:pt x="0" y="87"/>
                </a:cubicBezTo>
                <a:lnTo>
                  <a:pt x="63" y="0"/>
                </a:lnTo>
              </a:path>
            </a:pathLst>
          </a:custGeom>
          <a:solidFill>
            <a:srgbClr val="FFF1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4582403" y="2014559"/>
            <a:ext cx="7315835" cy="2994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4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57704" algn="l" rtl="0" eaLnBrk="0">
              <a:lnSpc>
                <a:spcPct val="90000"/>
              </a:lnSpc>
              <a:tabLst/>
            </a:pPr>
            <a:r>
              <a:rPr sz="3200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按部就班</a:t>
            </a:r>
            <a:r>
              <a:rPr sz="3200" kern="0" spc="4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千篇一律</a:t>
            </a:r>
            <a:endParaRPr sz="3200" dirty="0">
              <a:latin typeface="PingFang SC"/>
              <a:ea typeface="PingFang SC"/>
              <a:cs typeface="PingFang SC"/>
            </a:endParaRPr>
          </a:p>
          <a:p>
            <a:pPr marL="404495" algn="l" rtl="0" eaLnBrk="0">
              <a:lnSpc>
                <a:spcPts val="4038"/>
              </a:lnSpc>
              <a:spcBef>
                <a:spcPts val="1045"/>
              </a:spcBef>
              <a:tabLst/>
            </a:pPr>
            <a:r>
              <a:rPr sz="3200" kern="0" spc="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品牌</a:t>
            </a:r>
            <a:r>
              <a:rPr sz="32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er</a:t>
            </a:r>
            <a:r>
              <a:rPr sz="3200" kern="0" spc="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的综艺营销已陷入循环模式？</a:t>
            </a:r>
            <a:endParaRPr sz="3200" dirty="0">
              <a:latin typeface="PingFang SC"/>
              <a:ea typeface="PingFang SC"/>
              <a:cs typeface="PingFang SC"/>
            </a:endParaRPr>
          </a:p>
          <a:p>
            <a:pPr marL="1417955" algn="l" rtl="0" eaLnBrk="0">
              <a:lnSpc>
                <a:spcPct val="90000"/>
              </a:lnSpc>
              <a:spcBef>
                <a:spcPts val="1431"/>
              </a:spcBef>
              <a:tabLst/>
            </a:pPr>
            <a:r>
              <a:rPr sz="3200" kern="0" spc="8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“芒果出品</a:t>
            </a:r>
            <a:r>
              <a:rPr sz="3200" kern="0" spc="-74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kern="0" spc="8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”</a:t>
            </a:r>
            <a:r>
              <a:rPr sz="32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焕新综艺观</a:t>
            </a:r>
            <a:r>
              <a:rPr sz="3200" kern="0" spc="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感</a:t>
            </a:r>
            <a:endParaRPr sz="32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ct val="90000"/>
              </a:lnSpc>
              <a:spcBef>
                <a:spcPts val="1547"/>
              </a:spcBef>
              <a:tabLst/>
            </a:pPr>
            <a:r>
              <a:rPr sz="3200" kern="0" spc="-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开辟以音乐采风创作进行品怕植入</a:t>
            </a:r>
            <a:r>
              <a:rPr sz="3200" kern="0" spc="-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的方式</a:t>
            </a:r>
            <a:endParaRPr sz="32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896620" algn="l" rtl="0" eaLnBrk="0">
              <a:lnSpc>
                <a:spcPct val="89000"/>
              </a:lnSpc>
              <a:spcBef>
                <a:spcPts val="6"/>
              </a:spcBef>
              <a:tabLst/>
            </a:pPr>
            <a:r>
              <a:rPr sz="3200" kern="0" spc="2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助力品牌综艺营销</a:t>
            </a:r>
            <a:r>
              <a:rPr sz="32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LEVEL</a:t>
            </a:r>
            <a:r>
              <a:rPr sz="3200" kern="0" spc="5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UP</a:t>
            </a:r>
            <a:endParaRPr sz="32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6245" y="1701629"/>
            <a:ext cx="3478904" cy="4364606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284988" y="228282"/>
            <a:ext cx="7376922" cy="710819"/>
            <a:chOff x="0" y="0"/>
            <a:chExt cx="7376922" cy="710819"/>
          </a:xfrm>
        </p:grpSpPr>
        <p:sp>
          <p:nvSpPr>
            <p:cNvPr id="48" name="rect 48"/>
            <p:cNvSpPr/>
            <p:nvPr/>
          </p:nvSpPr>
          <p:spPr>
            <a:xfrm>
              <a:off x="0" y="0"/>
              <a:ext cx="7376922" cy="710819"/>
            </a:xfrm>
            <a:prstGeom prst="rect">
              <a:avLst/>
            </a:prstGeom>
            <a:solidFill>
              <a:srgbClr val="C9EDF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0" name="textbox 50"/>
            <p:cNvSpPr/>
            <p:nvPr/>
          </p:nvSpPr>
          <p:spPr>
            <a:xfrm>
              <a:off x="1018749" y="96742"/>
              <a:ext cx="6252845" cy="589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2700" b="1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节目立意：</a:t>
              </a:r>
              <a:r>
                <a:rPr sz="2700" kern="0" spc="-6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2700" b="1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助力品牌综艺营销</a:t>
              </a:r>
              <a:r>
                <a:rPr sz="2700" b="1" kern="0" spc="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LEVEL</a:t>
              </a:r>
              <a:r>
                <a:rPr sz="27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2700" b="1" kern="0" spc="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UP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  <a:p>
              <a:pPr marL="81280" algn="l" rtl="0" eaLnBrk="0">
                <a:lnSpc>
                  <a:spcPct val="84000"/>
                </a:lnSpc>
                <a:spcBef>
                  <a:spcPts val="9"/>
                </a:spcBef>
                <a:tabLst/>
              </a:pP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U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-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8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N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E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52" name="picture 5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06184" y="104775"/>
              <a:ext cx="421004" cy="520064"/>
            </a:xfrm>
            <a:prstGeom prst="rect">
              <a:avLst/>
            </a:prstGeom>
          </p:spPr>
        </p:pic>
      </p:grpSp>
      <p:pic>
        <p:nvPicPr>
          <p:cNvPr id="54" name="picture 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639300" y="5763767"/>
            <a:ext cx="2062529" cy="791596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774553" y="5971539"/>
            <a:ext cx="1537274" cy="4519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194816"/>
            <a:ext cx="12192000" cy="4367784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284988" y="227965"/>
            <a:ext cx="6209156" cy="711200"/>
            <a:chOff x="0" y="0"/>
            <a:chExt cx="6209156" cy="711200"/>
          </a:xfrm>
        </p:grpSpPr>
        <p:sp>
          <p:nvSpPr>
            <p:cNvPr id="62" name="rect 62"/>
            <p:cNvSpPr/>
            <p:nvPr/>
          </p:nvSpPr>
          <p:spPr>
            <a:xfrm>
              <a:off x="0" y="0"/>
              <a:ext cx="6209156" cy="711200"/>
            </a:xfrm>
            <a:prstGeom prst="rect">
              <a:avLst/>
            </a:prstGeom>
            <a:solidFill>
              <a:srgbClr val="C9EDF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" name="textbox 64"/>
            <p:cNvSpPr/>
            <p:nvPr/>
          </p:nvSpPr>
          <p:spPr>
            <a:xfrm>
              <a:off x="1018749" y="97059"/>
              <a:ext cx="4978400" cy="589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2700" b="1" kern="0" spc="5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节目定位：</a:t>
              </a:r>
              <a:r>
                <a:rPr sz="2700" kern="0" spc="-6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2700" b="1" kern="0" spc="5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音乐旅行共创真人秀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  <a:p>
              <a:pPr marL="43180" algn="l" rtl="0" eaLnBrk="0">
                <a:lnSpc>
                  <a:spcPct val="84000"/>
                </a:lnSpc>
                <a:spcBef>
                  <a:spcPts val="9"/>
                </a:spcBef>
                <a:tabLst/>
              </a:pP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U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-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8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N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E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06184" y="105092"/>
              <a:ext cx="421004" cy="520064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21600000">
            <a:off x="6199517" y="1744345"/>
            <a:ext cx="2113991" cy="1646034"/>
            <a:chOff x="0" y="0"/>
            <a:chExt cx="2113991" cy="1646034"/>
          </a:xfrm>
        </p:grpSpPr>
        <p:sp>
          <p:nvSpPr>
            <p:cNvPr id="68" name="path 68"/>
            <p:cNvSpPr/>
            <p:nvPr/>
          </p:nvSpPr>
          <p:spPr>
            <a:xfrm>
              <a:off x="1416380" y="360235"/>
              <a:ext cx="675856" cy="1169441"/>
            </a:xfrm>
            <a:custGeom>
              <a:avLst/>
              <a:gdLst/>
              <a:ahLst/>
              <a:cxnLst/>
              <a:rect l="0" t="0" r="0" b="0"/>
              <a:pathLst>
                <a:path w="1064" h="1841">
                  <a:moveTo>
                    <a:pt x="845" y="0"/>
                  </a:moveTo>
                  <a:lnTo>
                    <a:pt x="907" y="140"/>
                  </a:lnTo>
                  <a:cubicBezTo>
                    <a:pt x="659" y="253"/>
                    <a:pt x="397" y="321"/>
                    <a:pt x="121" y="342"/>
                  </a:cubicBezTo>
                  <a:lnTo>
                    <a:pt x="121" y="744"/>
                  </a:lnTo>
                  <a:lnTo>
                    <a:pt x="506" y="744"/>
                  </a:lnTo>
                  <a:lnTo>
                    <a:pt x="506" y="453"/>
                  </a:lnTo>
                  <a:lnTo>
                    <a:pt x="628" y="453"/>
                  </a:lnTo>
                  <a:lnTo>
                    <a:pt x="628" y="744"/>
                  </a:lnTo>
                  <a:lnTo>
                    <a:pt x="1064" y="744"/>
                  </a:lnTo>
                  <a:lnTo>
                    <a:pt x="1064" y="1059"/>
                  </a:lnTo>
                  <a:lnTo>
                    <a:pt x="628" y="1059"/>
                  </a:lnTo>
                  <a:lnTo>
                    <a:pt x="628" y="1841"/>
                  </a:lnTo>
                  <a:lnTo>
                    <a:pt x="506" y="1841"/>
                  </a:lnTo>
                  <a:lnTo>
                    <a:pt x="506" y="1059"/>
                  </a:lnTo>
                  <a:lnTo>
                    <a:pt x="0" y="1059"/>
                  </a:lnTo>
                  <a:lnTo>
                    <a:pt x="0" y="219"/>
                  </a:lnTo>
                  <a:cubicBezTo>
                    <a:pt x="324" y="182"/>
                    <a:pt x="607" y="109"/>
                    <a:pt x="845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0" name="path 70"/>
            <p:cNvSpPr/>
            <p:nvPr/>
          </p:nvSpPr>
          <p:spPr>
            <a:xfrm>
              <a:off x="1154265" y="1111846"/>
              <a:ext cx="441947" cy="534187"/>
            </a:xfrm>
            <a:custGeom>
              <a:avLst/>
              <a:gdLst/>
              <a:ahLst/>
              <a:cxnLst/>
              <a:rect l="0" t="0" r="0" b="0"/>
              <a:pathLst>
                <a:path w="695" h="841">
                  <a:moveTo>
                    <a:pt x="527" y="0"/>
                  </a:moveTo>
                  <a:lnTo>
                    <a:pt x="695" y="85"/>
                  </a:lnTo>
                  <a:cubicBezTo>
                    <a:pt x="658" y="229"/>
                    <a:pt x="608" y="362"/>
                    <a:pt x="545" y="484"/>
                  </a:cubicBezTo>
                  <a:cubicBezTo>
                    <a:pt x="488" y="590"/>
                    <a:pt x="417" y="695"/>
                    <a:pt x="330" y="796"/>
                  </a:cubicBezTo>
                  <a:lnTo>
                    <a:pt x="326" y="800"/>
                  </a:lnTo>
                  <a:lnTo>
                    <a:pt x="310" y="819"/>
                  </a:lnTo>
                  <a:cubicBezTo>
                    <a:pt x="304" y="826"/>
                    <a:pt x="298" y="833"/>
                    <a:pt x="291" y="841"/>
                  </a:cubicBezTo>
                  <a:lnTo>
                    <a:pt x="0" y="536"/>
                  </a:lnTo>
                  <a:cubicBezTo>
                    <a:pt x="114" y="463"/>
                    <a:pt x="214" y="385"/>
                    <a:pt x="298" y="298"/>
                  </a:cubicBezTo>
                  <a:lnTo>
                    <a:pt x="326" y="268"/>
                  </a:lnTo>
                  <a:lnTo>
                    <a:pt x="329" y="266"/>
                  </a:lnTo>
                  <a:cubicBezTo>
                    <a:pt x="400" y="187"/>
                    <a:pt x="467" y="99"/>
                    <a:pt x="527" y="0"/>
                  </a:cubicBezTo>
                </a:path>
              </a:pathLst>
            </a:custGeom>
            <a:solidFill>
              <a:srgbClr val="FFF1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2" name="path 72"/>
            <p:cNvSpPr/>
            <p:nvPr/>
          </p:nvSpPr>
          <p:spPr>
            <a:xfrm>
              <a:off x="1928863" y="1156512"/>
              <a:ext cx="185127" cy="198628"/>
            </a:xfrm>
            <a:custGeom>
              <a:avLst/>
              <a:gdLst/>
              <a:ahLst/>
              <a:cxnLst/>
              <a:rect l="0" t="0" r="0" b="0"/>
              <a:pathLst>
                <a:path w="291" h="312">
                  <a:moveTo>
                    <a:pt x="65" y="0"/>
                  </a:moveTo>
                  <a:cubicBezTo>
                    <a:pt x="141" y="51"/>
                    <a:pt x="209" y="111"/>
                    <a:pt x="268" y="177"/>
                  </a:cubicBezTo>
                  <a:lnTo>
                    <a:pt x="291" y="203"/>
                  </a:lnTo>
                  <a:lnTo>
                    <a:pt x="291" y="208"/>
                  </a:lnTo>
                  <a:lnTo>
                    <a:pt x="168" y="312"/>
                  </a:lnTo>
                  <a:cubicBezTo>
                    <a:pt x="145" y="267"/>
                    <a:pt x="120" y="223"/>
                    <a:pt x="92" y="183"/>
                  </a:cubicBezTo>
                  <a:cubicBezTo>
                    <a:pt x="64" y="141"/>
                    <a:pt x="34" y="101"/>
                    <a:pt x="0" y="61"/>
                  </a:cubicBezTo>
                  <a:lnTo>
                    <a:pt x="65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" name="path 74"/>
            <p:cNvSpPr/>
            <p:nvPr/>
          </p:nvSpPr>
          <p:spPr>
            <a:xfrm>
              <a:off x="257416" y="416649"/>
              <a:ext cx="776363" cy="4698"/>
            </a:xfrm>
            <a:custGeom>
              <a:avLst/>
              <a:gdLst/>
              <a:ahLst/>
              <a:cxnLst/>
              <a:rect l="0" t="0" r="0" b="0"/>
              <a:pathLst>
                <a:path w="1222" h="7">
                  <a:moveTo>
                    <a:pt x="0" y="0"/>
                  </a:moveTo>
                  <a:lnTo>
                    <a:pt x="1222" y="0"/>
                  </a:lnTo>
                  <a:lnTo>
                    <a:pt x="1222" y="7"/>
                  </a:lnTo>
                  <a:lnTo>
                    <a:pt x="0" y="7"/>
                  </a:lnTo>
                  <a:lnTo>
                    <a:pt x="0" y="0"/>
                  </a:lnTo>
                  <a:close/>
                </a:path>
                <a:path w="1222" h="7">
                  <a:moveTo>
                    <a:pt x="1222" y="0"/>
                  </a:moveTo>
                  <a:lnTo>
                    <a:pt x="0" y="0"/>
                  </a:lnTo>
                  <a:lnTo>
                    <a:pt x="1222" y="0"/>
                  </a:lnTo>
                </a:path>
                <a:path w="1222" h="7">
                  <a:moveTo>
                    <a:pt x="1222" y="0"/>
                  </a:moveTo>
                  <a:lnTo>
                    <a:pt x="0" y="0"/>
                  </a:lnTo>
                  <a:lnTo>
                    <a:pt x="1222" y="0"/>
                  </a:lnTo>
                </a:path>
              </a:pathLst>
            </a:custGeom>
            <a:solidFill>
              <a:srgbClr val="FFF1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" name="path 76"/>
            <p:cNvSpPr/>
            <p:nvPr/>
          </p:nvSpPr>
          <p:spPr>
            <a:xfrm>
              <a:off x="9994" y="0"/>
              <a:ext cx="1281785" cy="817435"/>
            </a:xfrm>
            <a:custGeom>
              <a:avLst/>
              <a:gdLst/>
              <a:ahLst/>
              <a:cxnLst/>
              <a:rect l="0" t="0" r="0" b="0"/>
              <a:pathLst>
                <a:path w="2018" h="1287">
                  <a:moveTo>
                    <a:pt x="911" y="0"/>
                  </a:moveTo>
                  <a:lnTo>
                    <a:pt x="1087" y="0"/>
                  </a:lnTo>
                  <a:lnTo>
                    <a:pt x="1087" y="209"/>
                  </a:lnTo>
                  <a:lnTo>
                    <a:pt x="1612" y="209"/>
                  </a:lnTo>
                  <a:lnTo>
                    <a:pt x="1612" y="656"/>
                  </a:lnTo>
                  <a:lnTo>
                    <a:pt x="389" y="656"/>
                  </a:lnTo>
                  <a:lnTo>
                    <a:pt x="389" y="209"/>
                  </a:lnTo>
                  <a:lnTo>
                    <a:pt x="911" y="209"/>
                  </a:lnTo>
                  <a:lnTo>
                    <a:pt x="911" y="0"/>
                  </a:lnTo>
                </a:path>
                <a:path w="2018" h="1287">
                  <a:moveTo>
                    <a:pt x="1266" y="707"/>
                  </a:moveTo>
                  <a:lnTo>
                    <a:pt x="1450" y="832"/>
                  </a:lnTo>
                  <a:cubicBezTo>
                    <a:pt x="1429" y="886"/>
                    <a:pt x="1407" y="936"/>
                    <a:pt x="1383" y="984"/>
                  </a:cubicBezTo>
                  <a:cubicBezTo>
                    <a:pt x="1360" y="1032"/>
                    <a:pt x="1330" y="1080"/>
                    <a:pt x="1296" y="1124"/>
                  </a:cubicBezTo>
                  <a:lnTo>
                    <a:pt x="2018" y="1124"/>
                  </a:lnTo>
                  <a:lnTo>
                    <a:pt x="2018" y="1287"/>
                  </a:lnTo>
                  <a:lnTo>
                    <a:pt x="0" y="1287"/>
                  </a:lnTo>
                  <a:lnTo>
                    <a:pt x="0" y="1124"/>
                  </a:lnTo>
                  <a:lnTo>
                    <a:pt x="1185" y="1124"/>
                  </a:lnTo>
                  <a:lnTo>
                    <a:pt x="989" y="946"/>
                  </a:lnTo>
                  <a:cubicBezTo>
                    <a:pt x="1082" y="887"/>
                    <a:pt x="1164" y="819"/>
                    <a:pt x="1235" y="741"/>
                  </a:cubicBezTo>
                  <a:lnTo>
                    <a:pt x="1266" y="707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8" name="path 78"/>
            <p:cNvSpPr/>
            <p:nvPr/>
          </p:nvSpPr>
          <p:spPr>
            <a:xfrm>
              <a:off x="0" y="462483"/>
              <a:ext cx="610629" cy="354952"/>
            </a:xfrm>
            <a:custGeom>
              <a:avLst/>
              <a:gdLst/>
              <a:ahLst/>
              <a:cxnLst/>
              <a:rect l="0" t="0" r="0" b="0"/>
              <a:pathLst>
                <a:path w="961" h="558">
                  <a:moveTo>
                    <a:pt x="700" y="0"/>
                  </a:moveTo>
                  <a:cubicBezTo>
                    <a:pt x="747" y="28"/>
                    <a:pt x="792" y="59"/>
                    <a:pt x="833" y="92"/>
                  </a:cubicBezTo>
                  <a:cubicBezTo>
                    <a:pt x="876" y="124"/>
                    <a:pt x="919" y="161"/>
                    <a:pt x="961" y="199"/>
                  </a:cubicBezTo>
                  <a:lnTo>
                    <a:pt x="798" y="365"/>
                  </a:lnTo>
                  <a:cubicBezTo>
                    <a:pt x="739" y="275"/>
                    <a:pt x="671" y="188"/>
                    <a:pt x="596" y="104"/>
                  </a:cubicBezTo>
                  <a:lnTo>
                    <a:pt x="700" y="0"/>
                  </a:lnTo>
                </a:path>
                <a:path w="961" h="558">
                  <a:moveTo>
                    <a:pt x="15" y="558"/>
                  </a:moveTo>
                  <a:lnTo>
                    <a:pt x="15" y="396"/>
                  </a:lnTo>
                  <a:lnTo>
                    <a:pt x="15" y="558"/>
                  </a:lnTo>
                </a:path>
                <a:path w="961" h="558">
                  <a:moveTo>
                    <a:pt x="15" y="558"/>
                  </a:moveTo>
                  <a:lnTo>
                    <a:pt x="15" y="396"/>
                  </a:lnTo>
                  <a:lnTo>
                    <a:pt x="15" y="558"/>
                  </a:lnTo>
                </a:path>
                <a:path w="961" h="558">
                  <a:moveTo>
                    <a:pt x="15" y="558"/>
                  </a:moveTo>
                  <a:lnTo>
                    <a:pt x="15" y="396"/>
                  </a:lnTo>
                  <a:lnTo>
                    <a:pt x="15" y="558"/>
                  </a:lnTo>
                </a:path>
                <a:path w="961" h="558">
                  <a:moveTo>
                    <a:pt x="0" y="396"/>
                  </a:moveTo>
                  <a:lnTo>
                    <a:pt x="15" y="396"/>
                  </a:lnTo>
                  <a:lnTo>
                    <a:pt x="15" y="558"/>
                  </a:lnTo>
                  <a:lnTo>
                    <a:pt x="0" y="558"/>
                  </a:lnTo>
                  <a:lnTo>
                    <a:pt x="0" y="396"/>
                  </a:lnTo>
                  <a:close/>
                </a:path>
              </a:pathLst>
            </a:custGeom>
            <a:solidFill>
              <a:srgbClr val="FFF1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0" name="textbox 80"/>
          <p:cNvSpPr/>
          <p:nvPr/>
        </p:nvSpPr>
        <p:spPr>
          <a:xfrm>
            <a:off x="409248" y="6042889"/>
            <a:ext cx="7019925" cy="421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19"/>
              </a:lnSpc>
              <a:tabLst/>
            </a:pPr>
            <a:r>
              <a:rPr sz="3600" kern="0" spc="100" baseline="1086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3000" kern="0" spc="100" baseline="1303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位知名音乐人+</a:t>
            </a:r>
            <a:r>
              <a:rPr sz="3600" kern="0" spc="100" baseline="1086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3000" kern="0" spc="100" baseline="1303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位高校音乐新生</a:t>
            </a:r>
            <a:r>
              <a:rPr sz="3000" kern="0" spc="0" baseline="1303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d</a:t>
            </a:r>
            <a:r>
              <a:rPr sz="2000" kern="0" spc="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e</a:t>
            </a:r>
            <a:r>
              <a:rPr sz="2000" kern="0" spc="27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000" kern="0" spc="100" baseline="9985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“</a:t>
            </a:r>
            <a:r>
              <a:rPr sz="3000" kern="0" spc="100" baseline="15193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城市采风及研学</a:t>
            </a:r>
            <a:r>
              <a:rPr sz="1900" kern="0" spc="-47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000" kern="0" spc="100" baseline="20402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”</a:t>
            </a:r>
            <a:r>
              <a:rPr sz="3000" kern="0" spc="100" baseline="22139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之旅</a:t>
            </a:r>
            <a:endParaRPr sz="3000" baseline="22139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330734" y="4154448"/>
            <a:ext cx="1729341" cy="1392911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58311" y="3860261"/>
            <a:ext cx="1134163" cy="1604053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3511388" y="3893839"/>
            <a:ext cx="5339715" cy="406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2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芒果团队自制音乐旅行共创真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人秀</a:t>
            </a:r>
            <a:endParaRPr sz="2700" dirty="0">
              <a:latin typeface="PingFang SC"/>
              <a:ea typeface="PingFang SC"/>
              <a:cs typeface="PingFang SC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3788156" y="2348458"/>
            <a:ext cx="787527" cy="1170026"/>
            <a:chOff x="0" y="0"/>
            <a:chExt cx="787527" cy="1170026"/>
          </a:xfrm>
        </p:grpSpPr>
        <p:sp>
          <p:nvSpPr>
            <p:cNvPr id="88" name="path 88"/>
            <p:cNvSpPr/>
            <p:nvPr/>
          </p:nvSpPr>
          <p:spPr>
            <a:xfrm>
              <a:off x="554799" y="0"/>
              <a:ext cx="232727" cy="1170026"/>
            </a:xfrm>
            <a:custGeom>
              <a:avLst/>
              <a:gdLst/>
              <a:ahLst/>
              <a:cxnLst/>
              <a:rect l="0" t="0" r="0" b="0"/>
              <a:pathLst>
                <a:path w="366" h="1842">
                  <a:moveTo>
                    <a:pt x="141" y="0"/>
                  </a:moveTo>
                  <a:lnTo>
                    <a:pt x="366" y="1824"/>
                  </a:lnTo>
                  <a:lnTo>
                    <a:pt x="223" y="1842"/>
                  </a:lnTo>
                  <a:lnTo>
                    <a:pt x="0" y="17"/>
                  </a:lnTo>
                  <a:lnTo>
                    <a:pt x="141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" name="path 90"/>
            <p:cNvSpPr/>
            <p:nvPr/>
          </p:nvSpPr>
          <p:spPr>
            <a:xfrm>
              <a:off x="0" y="58763"/>
              <a:ext cx="522477" cy="639381"/>
            </a:xfrm>
            <a:custGeom>
              <a:avLst/>
              <a:gdLst/>
              <a:ahLst/>
              <a:cxnLst/>
              <a:rect l="0" t="0" r="0" b="0"/>
              <a:pathLst>
                <a:path w="822" h="1006">
                  <a:moveTo>
                    <a:pt x="635" y="0"/>
                  </a:moveTo>
                  <a:lnTo>
                    <a:pt x="822" y="98"/>
                  </a:lnTo>
                  <a:cubicBezTo>
                    <a:pt x="797" y="186"/>
                    <a:pt x="769" y="270"/>
                    <a:pt x="737" y="347"/>
                  </a:cubicBezTo>
                  <a:cubicBezTo>
                    <a:pt x="706" y="425"/>
                    <a:pt x="670" y="500"/>
                    <a:pt x="629" y="574"/>
                  </a:cubicBezTo>
                  <a:cubicBezTo>
                    <a:pt x="588" y="648"/>
                    <a:pt x="542" y="720"/>
                    <a:pt x="489" y="791"/>
                  </a:cubicBezTo>
                  <a:cubicBezTo>
                    <a:pt x="437" y="861"/>
                    <a:pt x="379" y="933"/>
                    <a:pt x="313" y="1006"/>
                  </a:cubicBezTo>
                  <a:lnTo>
                    <a:pt x="0" y="670"/>
                  </a:lnTo>
                  <a:cubicBezTo>
                    <a:pt x="139" y="575"/>
                    <a:pt x="260" y="474"/>
                    <a:pt x="361" y="368"/>
                  </a:cubicBezTo>
                  <a:cubicBezTo>
                    <a:pt x="463" y="260"/>
                    <a:pt x="555" y="138"/>
                    <a:pt x="635" y="0"/>
                  </a:cubicBezTo>
                </a:path>
              </a:pathLst>
            </a:custGeom>
            <a:solidFill>
              <a:srgbClr val="FFF1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" name="path 92"/>
            <p:cNvSpPr/>
            <p:nvPr/>
          </p:nvSpPr>
          <p:spPr>
            <a:xfrm>
              <a:off x="383768" y="524192"/>
              <a:ext cx="133998" cy="357302"/>
            </a:xfrm>
            <a:custGeom>
              <a:avLst/>
              <a:gdLst/>
              <a:ahLst/>
              <a:cxnLst/>
              <a:rect l="0" t="0" r="0" b="0"/>
              <a:pathLst>
                <a:path w="211" h="562">
                  <a:moveTo>
                    <a:pt x="144" y="0"/>
                  </a:moveTo>
                  <a:lnTo>
                    <a:pt x="211" y="545"/>
                  </a:lnTo>
                  <a:lnTo>
                    <a:pt x="66" y="562"/>
                  </a:lnTo>
                  <a:lnTo>
                    <a:pt x="0" y="17"/>
                  </a:lnTo>
                  <a:lnTo>
                    <a:pt x="144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2719705" y="1873631"/>
            <a:ext cx="1114297" cy="1474431"/>
            <a:chOff x="0" y="0"/>
            <a:chExt cx="1114297" cy="1474431"/>
          </a:xfrm>
        </p:grpSpPr>
        <p:sp>
          <p:nvSpPr>
            <p:cNvPr id="94" name="path 94"/>
            <p:cNvSpPr/>
            <p:nvPr/>
          </p:nvSpPr>
          <p:spPr>
            <a:xfrm>
              <a:off x="0" y="14694"/>
              <a:ext cx="1114297" cy="1459737"/>
            </a:xfrm>
            <a:custGeom>
              <a:avLst/>
              <a:gdLst/>
              <a:ahLst/>
              <a:cxnLst/>
              <a:rect l="0" t="0" r="0" b="0"/>
              <a:pathLst>
                <a:path w="1754" h="2298">
                  <a:moveTo>
                    <a:pt x="1245" y="37"/>
                  </a:moveTo>
                  <a:cubicBezTo>
                    <a:pt x="1292" y="66"/>
                    <a:pt x="1337" y="96"/>
                    <a:pt x="1382" y="127"/>
                  </a:cubicBezTo>
                  <a:cubicBezTo>
                    <a:pt x="1427" y="158"/>
                    <a:pt x="1470" y="192"/>
                    <a:pt x="1511" y="232"/>
                  </a:cubicBezTo>
                  <a:lnTo>
                    <a:pt x="1368" y="374"/>
                  </a:lnTo>
                  <a:cubicBezTo>
                    <a:pt x="1310" y="281"/>
                    <a:pt x="1244" y="195"/>
                    <a:pt x="1171" y="117"/>
                  </a:cubicBezTo>
                  <a:lnTo>
                    <a:pt x="1245" y="37"/>
                  </a:lnTo>
                </a:path>
                <a:path w="1754" h="2298">
                  <a:moveTo>
                    <a:pt x="930" y="0"/>
                  </a:moveTo>
                  <a:lnTo>
                    <a:pt x="1072" y="5"/>
                  </a:lnTo>
                  <a:cubicBezTo>
                    <a:pt x="1069" y="113"/>
                    <a:pt x="1069" y="218"/>
                    <a:pt x="1074" y="318"/>
                  </a:cubicBezTo>
                  <a:cubicBezTo>
                    <a:pt x="1078" y="417"/>
                    <a:pt x="1085" y="513"/>
                    <a:pt x="1095" y="605"/>
                  </a:cubicBezTo>
                  <a:lnTo>
                    <a:pt x="1612" y="605"/>
                  </a:lnTo>
                  <a:lnTo>
                    <a:pt x="1612" y="983"/>
                  </a:lnTo>
                  <a:lnTo>
                    <a:pt x="1167" y="983"/>
                  </a:lnTo>
                  <a:cubicBezTo>
                    <a:pt x="1176" y="1010"/>
                    <a:pt x="1183" y="1037"/>
                    <a:pt x="1192" y="1062"/>
                  </a:cubicBezTo>
                  <a:cubicBezTo>
                    <a:pt x="1199" y="1088"/>
                    <a:pt x="1207" y="1112"/>
                    <a:pt x="1216" y="1136"/>
                  </a:cubicBezTo>
                  <a:cubicBezTo>
                    <a:pt x="1224" y="1160"/>
                    <a:pt x="1232" y="1183"/>
                    <a:pt x="1240" y="1206"/>
                  </a:cubicBezTo>
                  <a:cubicBezTo>
                    <a:pt x="1247" y="1229"/>
                    <a:pt x="1256" y="1252"/>
                    <a:pt x="1267" y="1274"/>
                  </a:cubicBezTo>
                  <a:cubicBezTo>
                    <a:pt x="1291" y="1249"/>
                    <a:pt x="1314" y="1223"/>
                    <a:pt x="1335" y="1196"/>
                  </a:cubicBezTo>
                  <a:cubicBezTo>
                    <a:pt x="1357" y="1170"/>
                    <a:pt x="1379" y="1142"/>
                    <a:pt x="1402" y="1113"/>
                  </a:cubicBezTo>
                  <a:lnTo>
                    <a:pt x="1565" y="1228"/>
                  </a:lnTo>
                  <a:cubicBezTo>
                    <a:pt x="1541" y="1286"/>
                    <a:pt x="1516" y="1341"/>
                    <a:pt x="1491" y="1395"/>
                  </a:cubicBezTo>
                  <a:cubicBezTo>
                    <a:pt x="1466" y="1449"/>
                    <a:pt x="1438" y="1501"/>
                    <a:pt x="1407" y="1550"/>
                  </a:cubicBezTo>
                  <a:cubicBezTo>
                    <a:pt x="1501" y="1707"/>
                    <a:pt x="1616" y="1857"/>
                    <a:pt x="1754" y="1999"/>
                  </a:cubicBezTo>
                  <a:lnTo>
                    <a:pt x="1650" y="2099"/>
                  </a:lnTo>
                  <a:cubicBezTo>
                    <a:pt x="1585" y="2031"/>
                    <a:pt x="1526" y="1963"/>
                    <a:pt x="1471" y="1895"/>
                  </a:cubicBezTo>
                  <a:cubicBezTo>
                    <a:pt x="1416" y="1826"/>
                    <a:pt x="1366" y="1756"/>
                    <a:pt x="1320" y="1683"/>
                  </a:cubicBezTo>
                  <a:cubicBezTo>
                    <a:pt x="1272" y="1750"/>
                    <a:pt x="1221" y="1812"/>
                    <a:pt x="1167" y="1872"/>
                  </a:cubicBezTo>
                  <a:cubicBezTo>
                    <a:pt x="1112" y="1931"/>
                    <a:pt x="1056" y="1988"/>
                    <a:pt x="995" y="2043"/>
                  </a:cubicBezTo>
                  <a:lnTo>
                    <a:pt x="715" y="1688"/>
                  </a:lnTo>
                  <a:cubicBezTo>
                    <a:pt x="798" y="1644"/>
                    <a:pt x="877" y="1597"/>
                    <a:pt x="950" y="1548"/>
                  </a:cubicBezTo>
                  <a:cubicBezTo>
                    <a:pt x="1023" y="1498"/>
                    <a:pt x="1092" y="1443"/>
                    <a:pt x="1156" y="1384"/>
                  </a:cubicBezTo>
                  <a:cubicBezTo>
                    <a:pt x="1143" y="1350"/>
                    <a:pt x="1130" y="1316"/>
                    <a:pt x="1116" y="1284"/>
                  </a:cubicBezTo>
                  <a:cubicBezTo>
                    <a:pt x="1102" y="1252"/>
                    <a:pt x="1091" y="1218"/>
                    <a:pt x="1080" y="1185"/>
                  </a:cubicBezTo>
                  <a:cubicBezTo>
                    <a:pt x="1068" y="1151"/>
                    <a:pt x="1057" y="1117"/>
                    <a:pt x="1047" y="1085"/>
                  </a:cubicBezTo>
                  <a:cubicBezTo>
                    <a:pt x="1037" y="1053"/>
                    <a:pt x="1027" y="1018"/>
                    <a:pt x="1018" y="983"/>
                  </a:cubicBezTo>
                  <a:lnTo>
                    <a:pt x="631" y="983"/>
                  </a:lnTo>
                  <a:lnTo>
                    <a:pt x="631" y="1216"/>
                  </a:lnTo>
                  <a:cubicBezTo>
                    <a:pt x="661" y="1202"/>
                    <a:pt x="692" y="1186"/>
                    <a:pt x="722" y="1168"/>
                  </a:cubicBezTo>
                  <a:cubicBezTo>
                    <a:pt x="753" y="1150"/>
                    <a:pt x="785" y="1131"/>
                    <a:pt x="820" y="1111"/>
                  </a:cubicBezTo>
                  <a:lnTo>
                    <a:pt x="934" y="1243"/>
                  </a:lnTo>
                  <a:cubicBezTo>
                    <a:pt x="882" y="1310"/>
                    <a:pt x="831" y="1368"/>
                    <a:pt x="782" y="1418"/>
                  </a:cubicBezTo>
                  <a:cubicBezTo>
                    <a:pt x="734" y="1468"/>
                    <a:pt x="683" y="1515"/>
                    <a:pt x="631" y="1558"/>
                  </a:cubicBezTo>
                  <a:lnTo>
                    <a:pt x="631" y="2298"/>
                  </a:lnTo>
                  <a:lnTo>
                    <a:pt x="484" y="2298"/>
                  </a:lnTo>
                  <a:lnTo>
                    <a:pt x="484" y="1660"/>
                  </a:lnTo>
                  <a:cubicBezTo>
                    <a:pt x="437" y="1690"/>
                    <a:pt x="386" y="1720"/>
                    <a:pt x="333" y="1750"/>
                  </a:cubicBezTo>
                  <a:cubicBezTo>
                    <a:pt x="279" y="1778"/>
                    <a:pt x="220" y="1808"/>
                    <a:pt x="155" y="1838"/>
                  </a:cubicBezTo>
                  <a:lnTo>
                    <a:pt x="0" y="1412"/>
                  </a:lnTo>
                  <a:cubicBezTo>
                    <a:pt x="100" y="1393"/>
                    <a:pt x="188" y="1374"/>
                    <a:pt x="265" y="1354"/>
                  </a:cubicBezTo>
                  <a:cubicBezTo>
                    <a:pt x="342" y="1335"/>
                    <a:pt x="415" y="1311"/>
                    <a:pt x="484" y="1282"/>
                  </a:cubicBezTo>
                  <a:lnTo>
                    <a:pt x="484" y="983"/>
                  </a:lnTo>
                  <a:lnTo>
                    <a:pt x="53" y="983"/>
                  </a:lnTo>
                  <a:lnTo>
                    <a:pt x="53" y="605"/>
                  </a:lnTo>
                  <a:lnTo>
                    <a:pt x="484" y="605"/>
                  </a:lnTo>
                  <a:lnTo>
                    <a:pt x="484" y="421"/>
                  </a:lnTo>
                  <a:lnTo>
                    <a:pt x="631" y="421"/>
                  </a:lnTo>
                  <a:lnTo>
                    <a:pt x="631" y="605"/>
                  </a:lnTo>
                  <a:lnTo>
                    <a:pt x="950" y="605"/>
                  </a:lnTo>
                  <a:cubicBezTo>
                    <a:pt x="940" y="511"/>
                    <a:pt x="932" y="415"/>
                    <a:pt x="930" y="315"/>
                  </a:cubicBezTo>
                  <a:cubicBezTo>
                    <a:pt x="926" y="215"/>
                    <a:pt x="926" y="111"/>
                    <a:pt x="930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" name="path 96"/>
            <p:cNvSpPr/>
            <p:nvPr/>
          </p:nvSpPr>
          <p:spPr>
            <a:xfrm>
              <a:off x="84035" y="0"/>
              <a:ext cx="437845" cy="275615"/>
            </a:xfrm>
            <a:custGeom>
              <a:avLst/>
              <a:gdLst/>
              <a:ahLst/>
              <a:cxnLst/>
              <a:rect l="0" t="0" r="0" b="0"/>
              <a:pathLst>
                <a:path w="689" h="434">
                  <a:moveTo>
                    <a:pt x="622" y="0"/>
                  </a:moveTo>
                  <a:lnTo>
                    <a:pt x="689" y="168"/>
                  </a:lnTo>
                  <a:cubicBezTo>
                    <a:pt x="609" y="231"/>
                    <a:pt x="522" y="284"/>
                    <a:pt x="426" y="326"/>
                  </a:cubicBezTo>
                  <a:cubicBezTo>
                    <a:pt x="331" y="369"/>
                    <a:pt x="215" y="405"/>
                    <a:pt x="79" y="434"/>
                  </a:cubicBezTo>
                  <a:lnTo>
                    <a:pt x="0" y="79"/>
                  </a:lnTo>
                  <a:cubicBezTo>
                    <a:pt x="62" y="77"/>
                    <a:pt x="121" y="74"/>
                    <a:pt x="174" y="73"/>
                  </a:cubicBezTo>
                  <a:cubicBezTo>
                    <a:pt x="228" y="70"/>
                    <a:pt x="280" y="65"/>
                    <a:pt x="329" y="58"/>
                  </a:cubicBezTo>
                  <a:cubicBezTo>
                    <a:pt x="378" y="51"/>
                    <a:pt x="427" y="43"/>
                    <a:pt x="474" y="34"/>
                  </a:cubicBezTo>
                  <a:cubicBezTo>
                    <a:pt x="522" y="24"/>
                    <a:pt x="571" y="13"/>
                    <a:pt x="622" y="0"/>
                  </a:cubicBezTo>
                </a:path>
              </a:pathLst>
            </a:custGeom>
            <a:solidFill>
              <a:srgbClr val="FFF1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98" name="picture 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639300" y="5763767"/>
            <a:ext cx="2062529" cy="791596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 rot="21600000">
            <a:off x="8369338" y="2030539"/>
            <a:ext cx="1058455" cy="1281086"/>
            <a:chOff x="0" y="0"/>
            <a:chExt cx="1058455" cy="1281086"/>
          </a:xfrm>
        </p:grpSpPr>
        <p:sp>
          <p:nvSpPr>
            <p:cNvPr id="100" name="path 100"/>
            <p:cNvSpPr/>
            <p:nvPr/>
          </p:nvSpPr>
          <p:spPr>
            <a:xfrm>
              <a:off x="0" y="0"/>
              <a:ext cx="1058455" cy="1281086"/>
            </a:xfrm>
            <a:custGeom>
              <a:avLst/>
              <a:gdLst/>
              <a:ahLst/>
              <a:cxnLst/>
              <a:rect l="0" t="0" r="0" b="0"/>
              <a:pathLst>
                <a:path w="1666" h="2017">
                  <a:moveTo>
                    <a:pt x="1023" y="0"/>
                  </a:moveTo>
                  <a:lnTo>
                    <a:pt x="1179" y="99"/>
                  </a:lnTo>
                  <a:cubicBezTo>
                    <a:pt x="1157" y="153"/>
                    <a:pt x="1134" y="205"/>
                    <a:pt x="1108" y="253"/>
                  </a:cubicBezTo>
                  <a:cubicBezTo>
                    <a:pt x="1175" y="325"/>
                    <a:pt x="1248" y="390"/>
                    <a:pt x="1326" y="446"/>
                  </a:cubicBezTo>
                  <a:cubicBezTo>
                    <a:pt x="1379" y="484"/>
                    <a:pt x="1435" y="519"/>
                    <a:pt x="1491" y="547"/>
                  </a:cubicBezTo>
                  <a:cubicBezTo>
                    <a:pt x="1549" y="577"/>
                    <a:pt x="1607" y="601"/>
                    <a:pt x="1666" y="621"/>
                  </a:cubicBezTo>
                  <a:lnTo>
                    <a:pt x="1630" y="736"/>
                  </a:lnTo>
                  <a:cubicBezTo>
                    <a:pt x="1495" y="691"/>
                    <a:pt x="1371" y="627"/>
                    <a:pt x="1257" y="545"/>
                  </a:cubicBezTo>
                  <a:cubicBezTo>
                    <a:pt x="1219" y="519"/>
                    <a:pt x="1183" y="491"/>
                    <a:pt x="1149" y="460"/>
                  </a:cubicBezTo>
                  <a:cubicBezTo>
                    <a:pt x="1115" y="430"/>
                    <a:pt x="1081" y="397"/>
                    <a:pt x="1049" y="363"/>
                  </a:cubicBezTo>
                  <a:cubicBezTo>
                    <a:pt x="972" y="496"/>
                    <a:pt x="889" y="614"/>
                    <a:pt x="798" y="719"/>
                  </a:cubicBezTo>
                  <a:cubicBezTo>
                    <a:pt x="707" y="824"/>
                    <a:pt x="606" y="919"/>
                    <a:pt x="494" y="1006"/>
                  </a:cubicBezTo>
                  <a:lnTo>
                    <a:pt x="1537" y="1006"/>
                  </a:lnTo>
                  <a:lnTo>
                    <a:pt x="1537" y="1324"/>
                  </a:lnTo>
                  <a:lnTo>
                    <a:pt x="1083" y="1324"/>
                  </a:lnTo>
                  <a:cubicBezTo>
                    <a:pt x="1042" y="1454"/>
                    <a:pt x="989" y="1579"/>
                    <a:pt x="923" y="1700"/>
                  </a:cubicBezTo>
                  <a:lnTo>
                    <a:pt x="1245" y="1700"/>
                  </a:lnTo>
                  <a:cubicBezTo>
                    <a:pt x="1230" y="1672"/>
                    <a:pt x="1217" y="1646"/>
                    <a:pt x="1205" y="1622"/>
                  </a:cubicBezTo>
                  <a:cubicBezTo>
                    <a:pt x="1192" y="1598"/>
                    <a:pt x="1180" y="1575"/>
                    <a:pt x="1168" y="1553"/>
                  </a:cubicBezTo>
                  <a:lnTo>
                    <a:pt x="1245" y="1498"/>
                  </a:lnTo>
                  <a:cubicBezTo>
                    <a:pt x="1267" y="1522"/>
                    <a:pt x="1289" y="1551"/>
                    <a:pt x="1314" y="1582"/>
                  </a:cubicBezTo>
                  <a:cubicBezTo>
                    <a:pt x="1339" y="1614"/>
                    <a:pt x="1364" y="1648"/>
                    <a:pt x="1389" y="1682"/>
                  </a:cubicBezTo>
                  <a:cubicBezTo>
                    <a:pt x="1414" y="1717"/>
                    <a:pt x="1437" y="1751"/>
                    <a:pt x="1459" y="1787"/>
                  </a:cubicBezTo>
                  <a:cubicBezTo>
                    <a:pt x="1480" y="1821"/>
                    <a:pt x="1501" y="1854"/>
                    <a:pt x="1517" y="1886"/>
                  </a:cubicBezTo>
                  <a:lnTo>
                    <a:pt x="1364" y="1981"/>
                  </a:lnTo>
                  <a:cubicBezTo>
                    <a:pt x="1355" y="1954"/>
                    <a:pt x="1345" y="1927"/>
                    <a:pt x="1334" y="1899"/>
                  </a:cubicBezTo>
                  <a:cubicBezTo>
                    <a:pt x="1323" y="1872"/>
                    <a:pt x="1311" y="1843"/>
                    <a:pt x="1298" y="1813"/>
                  </a:cubicBezTo>
                  <a:lnTo>
                    <a:pt x="853" y="1813"/>
                  </a:lnTo>
                  <a:cubicBezTo>
                    <a:pt x="805" y="1889"/>
                    <a:pt x="751" y="1958"/>
                    <a:pt x="692" y="2017"/>
                  </a:cubicBezTo>
                  <a:lnTo>
                    <a:pt x="394" y="1732"/>
                  </a:lnTo>
                  <a:cubicBezTo>
                    <a:pt x="474" y="1674"/>
                    <a:pt x="550" y="1612"/>
                    <a:pt x="622" y="1545"/>
                  </a:cubicBezTo>
                  <a:cubicBezTo>
                    <a:pt x="694" y="1478"/>
                    <a:pt x="758" y="1404"/>
                    <a:pt x="815" y="1324"/>
                  </a:cubicBezTo>
                  <a:lnTo>
                    <a:pt x="459" y="1324"/>
                  </a:lnTo>
                  <a:lnTo>
                    <a:pt x="459" y="1032"/>
                  </a:lnTo>
                  <a:cubicBezTo>
                    <a:pt x="425" y="1059"/>
                    <a:pt x="390" y="1084"/>
                    <a:pt x="354" y="1107"/>
                  </a:cubicBezTo>
                  <a:cubicBezTo>
                    <a:pt x="318" y="1130"/>
                    <a:pt x="281" y="1154"/>
                    <a:pt x="242" y="1177"/>
                  </a:cubicBezTo>
                  <a:lnTo>
                    <a:pt x="0" y="732"/>
                  </a:lnTo>
                  <a:cubicBezTo>
                    <a:pt x="108" y="691"/>
                    <a:pt x="208" y="645"/>
                    <a:pt x="302" y="597"/>
                  </a:cubicBezTo>
                  <a:cubicBezTo>
                    <a:pt x="396" y="549"/>
                    <a:pt x="484" y="496"/>
                    <a:pt x="568" y="437"/>
                  </a:cubicBezTo>
                  <a:cubicBezTo>
                    <a:pt x="652" y="378"/>
                    <a:pt x="731" y="312"/>
                    <a:pt x="806" y="241"/>
                  </a:cubicBezTo>
                  <a:cubicBezTo>
                    <a:pt x="880" y="170"/>
                    <a:pt x="953" y="89"/>
                    <a:pt x="1023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2" name="path 102"/>
            <p:cNvSpPr/>
            <p:nvPr/>
          </p:nvSpPr>
          <p:spPr>
            <a:xfrm>
              <a:off x="557148" y="453085"/>
              <a:ext cx="224497" cy="72872"/>
            </a:xfrm>
            <a:custGeom>
              <a:avLst/>
              <a:gdLst/>
              <a:ahLst/>
              <a:cxnLst/>
              <a:rect l="0" t="0" r="0" b="0"/>
              <a:pathLst>
                <a:path w="353" h="114">
                  <a:moveTo>
                    <a:pt x="0" y="0"/>
                  </a:moveTo>
                  <a:lnTo>
                    <a:pt x="353" y="0"/>
                  </a:lnTo>
                  <a:lnTo>
                    <a:pt x="353" y="114"/>
                  </a:lnTo>
                  <a:lnTo>
                    <a:pt x="0" y="1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1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5283289" y="2047582"/>
            <a:ext cx="851001" cy="1068362"/>
            <a:chOff x="0" y="0"/>
            <a:chExt cx="851001" cy="1068362"/>
          </a:xfrm>
        </p:grpSpPr>
        <p:sp>
          <p:nvSpPr>
            <p:cNvPr id="104" name="path 104"/>
            <p:cNvSpPr/>
            <p:nvPr/>
          </p:nvSpPr>
          <p:spPr>
            <a:xfrm>
              <a:off x="0" y="0"/>
              <a:ext cx="851001" cy="1068362"/>
            </a:xfrm>
            <a:custGeom>
              <a:avLst/>
              <a:gdLst/>
              <a:ahLst/>
              <a:cxnLst/>
              <a:rect l="0" t="0" r="0" b="0"/>
              <a:pathLst>
                <a:path w="1340" h="1682">
                  <a:moveTo>
                    <a:pt x="100" y="872"/>
                  </a:moveTo>
                  <a:lnTo>
                    <a:pt x="100" y="1240"/>
                  </a:lnTo>
                  <a:lnTo>
                    <a:pt x="486" y="1240"/>
                  </a:lnTo>
                  <a:lnTo>
                    <a:pt x="486" y="872"/>
                  </a:lnTo>
                  <a:lnTo>
                    <a:pt x="100" y="872"/>
                  </a:lnTo>
                  <a:close/>
                  <a:moveTo>
                    <a:pt x="100" y="442"/>
                  </a:moveTo>
                  <a:lnTo>
                    <a:pt x="100" y="778"/>
                  </a:lnTo>
                  <a:lnTo>
                    <a:pt x="486" y="778"/>
                  </a:lnTo>
                  <a:lnTo>
                    <a:pt x="486" y="442"/>
                  </a:lnTo>
                  <a:lnTo>
                    <a:pt x="100" y="442"/>
                  </a:lnTo>
                  <a:close/>
                  <a:moveTo>
                    <a:pt x="865" y="0"/>
                  </a:moveTo>
                  <a:lnTo>
                    <a:pt x="1039" y="51"/>
                  </a:lnTo>
                  <a:cubicBezTo>
                    <a:pt x="1022" y="130"/>
                    <a:pt x="1005" y="206"/>
                    <a:pt x="986" y="278"/>
                  </a:cubicBezTo>
                  <a:lnTo>
                    <a:pt x="1340" y="278"/>
                  </a:lnTo>
                  <a:lnTo>
                    <a:pt x="1340" y="1682"/>
                  </a:lnTo>
                  <a:lnTo>
                    <a:pt x="1240" y="1682"/>
                  </a:lnTo>
                  <a:lnTo>
                    <a:pt x="1240" y="372"/>
                  </a:lnTo>
                  <a:lnTo>
                    <a:pt x="956" y="372"/>
                  </a:lnTo>
                  <a:cubicBezTo>
                    <a:pt x="909" y="514"/>
                    <a:pt x="849" y="650"/>
                    <a:pt x="776" y="782"/>
                  </a:cubicBezTo>
                  <a:lnTo>
                    <a:pt x="586" y="664"/>
                  </a:lnTo>
                  <a:lnTo>
                    <a:pt x="586" y="1502"/>
                  </a:lnTo>
                  <a:lnTo>
                    <a:pt x="0" y="1502"/>
                  </a:lnTo>
                  <a:lnTo>
                    <a:pt x="0" y="349"/>
                  </a:lnTo>
                  <a:lnTo>
                    <a:pt x="218" y="349"/>
                  </a:lnTo>
                  <a:lnTo>
                    <a:pt x="117" y="211"/>
                  </a:lnTo>
                  <a:cubicBezTo>
                    <a:pt x="156" y="191"/>
                    <a:pt x="194" y="169"/>
                    <a:pt x="230" y="146"/>
                  </a:cubicBezTo>
                  <a:cubicBezTo>
                    <a:pt x="266" y="123"/>
                    <a:pt x="300" y="99"/>
                    <a:pt x="334" y="73"/>
                  </a:cubicBezTo>
                  <a:lnTo>
                    <a:pt x="446" y="188"/>
                  </a:lnTo>
                  <a:cubicBezTo>
                    <a:pt x="426" y="219"/>
                    <a:pt x="406" y="248"/>
                    <a:pt x="384" y="273"/>
                  </a:cubicBezTo>
                  <a:cubicBezTo>
                    <a:pt x="360" y="299"/>
                    <a:pt x="337" y="324"/>
                    <a:pt x="314" y="349"/>
                  </a:cubicBezTo>
                  <a:lnTo>
                    <a:pt x="586" y="349"/>
                  </a:lnTo>
                  <a:lnTo>
                    <a:pt x="586" y="545"/>
                  </a:lnTo>
                  <a:cubicBezTo>
                    <a:pt x="648" y="463"/>
                    <a:pt x="704" y="377"/>
                    <a:pt x="751" y="287"/>
                  </a:cubicBezTo>
                  <a:cubicBezTo>
                    <a:pt x="798" y="198"/>
                    <a:pt x="836" y="101"/>
                    <a:pt x="865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6" name="path 106"/>
            <p:cNvSpPr/>
            <p:nvPr/>
          </p:nvSpPr>
          <p:spPr>
            <a:xfrm>
              <a:off x="517182" y="510082"/>
              <a:ext cx="180416" cy="195097"/>
            </a:xfrm>
            <a:custGeom>
              <a:avLst/>
              <a:gdLst/>
              <a:ahLst/>
              <a:cxnLst/>
              <a:rect l="0" t="0" r="0" b="0"/>
              <a:pathLst>
                <a:path w="284" h="307">
                  <a:moveTo>
                    <a:pt x="58" y="0"/>
                  </a:moveTo>
                  <a:cubicBezTo>
                    <a:pt x="99" y="29"/>
                    <a:pt x="139" y="61"/>
                    <a:pt x="176" y="95"/>
                  </a:cubicBezTo>
                  <a:cubicBezTo>
                    <a:pt x="213" y="128"/>
                    <a:pt x="249" y="166"/>
                    <a:pt x="284" y="208"/>
                  </a:cubicBezTo>
                  <a:lnTo>
                    <a:pt x="172" y="307"/>
                  </a:lnTo>
                  <a:cubicBezTo>
                    <a:pt x="146" y="260"/>
                    <a:pt x="119" y="217"/>
                    <a:pt x="90" y="174"/>
                  </a:cubicBezTo>
                  <a:cubicBezTo>
                    <a:pt x="61" y="133"/>
                    <a:pt x="32" y="92"/>
                    <a:pt x="0" y="55"/>
                  </a:cubicBezTo>
                  <a:lnTo>
                    <a:pt x="58" y="0"/>
                  </a:lnTo>
                </a:path>
              </a:pathLst>
            </a:custGeom>
            <a:solidFill>
              <a:srgbClr val="FFF1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8" name="path 108"/>
          <p:cNvSpPr/>
          <p:nvPr/>
        </p:nvSpPr>
        <p:spPr>
          <a:xfrm>
            <a:off x="4629163" y="2015261"/>
            <a:ext cx="602995" cy="1422717"/>
          </a:xfrm>
          <a:custGeom>
            <a:avLst/>
            <a:gdLst/>
            <a:ahLst/>
            <a:cxnLst/>
            <a:rect l="0" t="0" r="0" b="0"/>
            <a:pathLst>
              <a:path w="949" h="2240">
                <a:moveTo>
                  <a:pt x="693" y="132"/>
                </a:moveTo>
                <a:lnTo>
                  <a:pt x="949" y="2222"/>
                </a:lnTo>
                <a:lnTo>
                  <a:pt x="807" y="2240"/>
                </a:lnTo>
                <a:lnTo>
                  <a:pt x="693" y="1305"/>
                </a:lnTo>
                <a:lnTo>
                  <a:pt x="693" y="132"/>
                </a:lnTo>
              </a:path>
              <a:path w="949" h="2240">
                <a:moveTo>
                  <a:pt x="692" y="0"/>
                </a:moveTo>
                <a:lnTo>
                  <a:pt x="708" y="132"/>
                </a:lnTo>
                <a:lnTo>
                  <a:pt x="708" y="1305"/>
                </a:lnTo>
                <a:lnTo>
                  <a:pt x="596" y="395"/>
                </a:lnTo>
                <a:lnTo>
                  <a:pt x="46" y="462"/>
                </a:lnTo>
                <a:lnTo>
                  <a:pt x="0" y="85"/>
                </a:lnTo>
                <a:lnTo>
                  <a:pt x="692" y="0"/>
                </a:ln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0" name="picture 1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774553" y="5971539"/>
            <a:ext cx="1537274" cy="451974"/>
          </a:xfrm>
          <a:prstGeom prst="rect">
            <a:avLst/>
          </a:prstGeom>
        </p:spPr>
      </p:pic>
      <p:sp>
        <p:nvSpPr>
          <p:cNvPr id="112" name="path 112"/>
          <p:cNvSpPr/>
          <p:nvPr/>
        </p:nvSpPr>
        <p:spPr>
          <a:xfrm>
            <a:off x="6502183" y="2681071"/>
            <a:ext cx="687032" cy="798042"/>
          </a:xfrm>
          <a:custGeom>
            <a:avLst/>
            <a:gdLst/>
            <a:ahLst/>
            <a:cxnLst/>
            <a:rect l="0" t="0" r="0" b="0"/>
            <a:pathLst>
              <a:path w="1081" h="1256">
                <a:moveTo>
                  <a:pt x="174" y="562"/>
                </a:moveTo>
                <a:lnTo>
                  <a:pt x="174" y="798"/>
                </a:lnTo>
                <a:lnTo>
                  <a:pt x="906" y="798"/>
                </a:lnTo>
                <a:lnTo>
                  <a:pt x="906" y="562"/>
                </a:lnTo>
                <a:lnTo>
                  <a:pt x="174" y="562"/>
                </a:lnTo>
                <a:close/>
                <a:moveTo>
                  <a:pt x="174" y="217"/>
                </a:moveTo>
                <a:lnTo>
                  <a:pt x="174" y="399"/>
                </a:lnTo>
                <a:lnTo>
                  <a:pt x="906" y="399"/>
                </a:lnTo>
                <a:lnTo>
                  <a:pt x="906" y="217"/>
                </a:lnTo>
                <a:lnTo>
                  <a:pt x="174" y="217"/>
                </a:lnTo>
                <a:close/>
                <a:moveTo>
                  <a:pt x="0" y="0"/>
                </a:moveTo>
                <a:lnTo>
                  <a:pt x="1081" y="0"/>
                </a:lnTo>
                <a:lnTo>
                  <a:pt x="1081" y="106"/>
                </a:lnTo>
                <a:lnTo>
                  <a:pt x="1081" y="217"/>
                </a:lnTo>
                <a:lnTo>
                  <a:pt x="1081" y="1256"/>
                </a:lnTo>
                <a:lnTo>
                  <a:pt x="0" y="1256"/>
                </a:lnTo>
                <a:lnTo>
                  <a:pt x="0" y="217"/>
                </a:lnTo>
                <a:lnTo>
                  <a:pt x="0" y="106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82426" y="2722563"/>
            <a:ext cx="436545" cy="460391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21285" y="2786291"/>
            <a:ext cx="262086" cy="496925"/>
          </a:xfrm>
          <a:prstGeom prst="rect">
            <a:avLst/>
          </a:prstGeom>
        </p:spPr>
      </p:pic>
      <p:sp>
        <p:nvSpPr>
          <p:cNvPr id="118" name="path 118"/>
          <p:cNvSpPr/>
          <p:nvPr/>
        </p:nvSpPr>
        <p:spPr>
          <a:xfrm>
            <a:off x="4272432" y="2007031"/>
            <a:ext cx="255651" cy="233298"/>
          </a:xfrm>
          <a:custGeom>
            <a:avLst/>
            <a:gdLst/>
            <a:ahLst/>
            <a:cxnLst/>
            <a:rect l="0" t="0" r="0" b="0"/>
            <a:pathLst>
              <a:path w="402" h="367">
                <a:moveTo>
                  <a:pt x="63" y="0"/>
                </a:moveTo>
                <a:cubicBezTo>
                  <a:pt x="124" y="26"/>
                  <a:pt x="183" y="58"/>
                  <a:pt x="241" y="92"/>
                </a:cubicBezTo>
                <a:cubicBezTo>
                  <a:pt x="299" y="127"/>
                  <a:pt x="353" y="164"/>
                  <a:pt x="402" y="202"/>
                </a:cubicBezTo>
                <a:lnTo>
                  <a:pt x="276" y="367"/>
                </a:lnTo>
                <a:cubicBezTo>
                  <a:pt x="236" y="317"/>
                  <a:pt x="191" y="268"/>
                  <a:pt x="143" y="219"/>
                </a:cubicBezTo>
                <a:cubicBezTo>
                  <a:pt x="95" y="170"/>
                  <a:pt x="47" y="126"/>
                  <a:pt x="0" y="87"/>
                </a:cubicBezTo>
                <a:lnTo>
                  <a:pt x="63" y="0"/>
                </a:ln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41437" y="1225232"/>
            <a:ext cx="9509125" cy="4530687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2452784" y="1610024"/>
            <a:ext cx="7851775" cy="3738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48435" algn="l" rtl="0" eaLnBrk="0">
              <a:lnSpc>
                <a:spcPct val="93000"/>
              </a:lnSpc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创作者的性格决定了音乐的风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格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marL="1448435" algn="l" rtl="0" eaLnBrk="0">
              <a:lnSpc>
                <a:spcPct val="93000"/>
              </a:lnSpc>
              <a:spcBef>
                <a:spcPts val="1352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创作者的见闻决定了音乐的走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向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marL="2206625" algn="l" rtl="0" eaLnBrk="0">
              <a:lnSpc>
                <a:spcPct val="91000"/>
              </a:lnSpc>
              <a:spcBef>
                <a:spcPts val="1403"/>
              </a:spcBef>
              <a:tabLst/>
            </a:pP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这是</a:t>
            </a:r>
            <a:r>
              <a:rPr sz="2700" b="1" kern="0" spc="11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9位</a:t>
            </a: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唱作人与彼此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marL="1457325" algn="l" rtl="0" eaLnBrk="0">
              <a:lnSpc>
                <a:spcPct val="94000"/>
              </a:lnSpc>
              <a:spcBef>
                <a:spcPts val="1367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与城市共生共荣的音乐</a:t>
            </a:r>
            <a:r>
              <a:rPr sz="2700" b="1" kern="0" spc="8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传承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之旅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ct val="91000"/>
              </a:lnSpc>
              <a:spcBef>
                <a:spcPts val="1327"/>
              </a:spcBef>
              <a:tabLst/>
            </a:pPr>
            <a:r>
              <a:rPr sz="2700" b="1" kern="0" spc="7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通过寻访当地自然风光</a:t>
            </a:r>
            <a:r>
              <a:rPr sz="2700" b="1" kern="0" spc="6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及人文故事</a:t>
            </a:r>
            <a:r>
              <a:rPr sz="2700" kern="0" spc="-45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b="1" kern="0" spc="6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，激发音乐灵感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marL="1289685" algn="l" rtl="0" eaLnBrk="0">
              <a:lnSpc>
                <a:spcPct val="93000"/>
              </a:lnSpc>
              <a:spcBef>
                <a:spcPts val="141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以不加修饰的原生态音乐风格面貌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921385" algn="l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刻画</a:t>
            </a:r>
            <a:r>
              <a:rPr sz="2700" kern="0" spc="-4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、传递符合城市独特性格的</a:t>
            </a:r>
            <a:r>
              <a:rPr sz="27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最强音</a:t>
            </a:r>
            <a:endParaRPr sz="27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26" name="picture 1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635997" y="4313461"/>
            <a:ext cx="205740" cy="1233898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017508" y="5547360"/>
            <a:ext cx="1825752" cy="190500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110220" y="858199"/>
            <a:ext cx="2531571" cy="4919540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56360" y="1225232"/>
            <a:ext cx="518160" cy="4530687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85645" y="1513753"/>
            <a:ext cx="2105867" cy="4812813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 rot="21600000">
            <a:off x="284988" y="228282"/>
            <a:ext cx="6640956" cy="710819"/>
            <a:chOff x="0" y="0"/>
            <a:chExt cx="6640956" cy="710819"/>
          </a:xfrm>
        </p:grpSpPr>
        <p:sp>
          <p:nvSpPr>
            <p:cNvPr id="136" name="rect 136"/>
            <p:cNvSpPr/>
            <p:nvPr/>
          </p:nvSpPr>
          <p:spPr>
            <a:xfrm>
              <a:off x="0" y="0"/>
              <a:ext cx="6640956" cy="710819"/>
            </a:xfrm>
            <a:prstGeom prst="rect">
              <a:avLst/>
            </a:prstGeom>
            <a:solidFill>
              <a:srgbClr val="C9EDF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" name="textbox 138"/>
            <p:cNvSpPr/>
            <p:nvPr/>
          </p:nvSpPr>
          <p:spPr>
            <a:xfrm>
              <a:off x="1018749" y="96742"/>
              <a:ext cx="5426710" cy="589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2700" b="1" kern="0" spc="4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节目概述：</a:t>
              </a:r>
              <a:r>
                <a:rPr sz="2700" kern="0" spc="-6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2700" b="1" kern="0" spc="4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为热爱而作</a:t>
              </a:r>
              <a:r>
                <a:rPr sz="2700" kern="0" spc="4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2700" b="1" kern="0" spc="4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为城市而歌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  <a:p>
              <a:pPr marL="43180" algn="l" rtl="0" eaLnBrk="0">
                <a:lnSpc>
                  <a:spcPct val="84000"/>
                </a:lnSpc>
                <a:spcBef>
                  <a:spcPts val="9"/>
                </a:spcBef>
                <a:tabLst/>
              </a:pP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U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-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8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N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E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140" name="picture 14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06184" y="104775"/>
              <a:ext cx="421004" cy="520064"/>
            </a:xfrm>
            <a:prstGeom prst="rect">
              <a:avLst/>
            </a:prstGeom>
          </p:spPr>
        </p:pic>
      </p:grpSp>
      <p:pic>
        <p:nvPicPr>
          <p:cNvPr id="142" name="picture 1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639300" y="5763767"/>
            <a:ext cx="2062529" cy="7915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46" name="rect 146"/>
          <p:cNvSpPr/>
          <p:nvPr/>
        </p:nvSpPr>
        <p:spPr>
          <a:xfrm>
            <a:off x="2407602" y="4500372"/>
            <a:ext cx="7833995" cy="806322"/>
          </a:xfrm>
          <a:prstGeom prst="rect">
            <a:avLst/>
          </a:prstGeom>
          <a:solidFill>
            <a:srgbClr val="E7207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46888" y="1164272"/>
            <a:ext cx="10603674" cy="5693727"/>
          </a:xfrm>
          <a:prstGeom prst="rect">
            <a:avLst/>
          </a:prstGeom>
        </p:spPr>
      </p:pic>
      <p:sp>
        <p:nvSpPr>
          <p:cNvPr id="150" name="textbox 150"/>
          <p:cNvSpPr/>
          <p:nvPr/>
        </p:nvSpPr>
        <p:spPr>
          <a:xfrm>
            <a:off x="2502789" y="1747494"/>
            <a:ext cx="7660640" cy="3498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270" algn="l" rtl="0" eaLnBrk="0">
              <a:lnSpc>
                <a:spcPct val="91000"/>
              </a:lnSpc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没有套路</a:t>
            </a:r>
            <a:r>
              <a:rPr sz="2300" kern="0" spc="-3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，只有真诚；没有争吵</a:t>
            </a:r>
            <a:r>
              <a:rPr sz="2300" kern="0" spc="-3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，只有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火花。</a:t>
            </a:r>
            <a:endParaRPr sz="23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13334" algn="l" rtl="0" eaLnBrk="0">
              <a:lnSpc>
                <a:spcPct val="127000"/>
              </a:lnSpc>
              <a:spcBef>
                <a:spcPts val="694"/>
              </a:spcBef>
              <a:tabLst/>
            </a:pP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出发前</a:t>
            </a:r>
            <a:r>
              <a:rPr sz="2300" kern="0" spc="-2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，节目组将发布本次的采风主题及任务</a:t>
            </a:r>
            <a:r>
              <a:rPr sz="2300" kern="0" spc="-3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，3名音乐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人及6名音乐新生前往目的地后</a:t>
            </a:r>
            <a:r>
              <a:rPr sz="2300" kern="0" spc="-2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，通过</a:t>
            </a:r>
            <a:r>
              <a:rPr sz="2300" kern="0" spc="1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感知</a:t>
            </a:r>
            <a:r>
              <a:rPr sz="2300" b="1" kern="0" spc="16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当地</a:t>
            </a:r>
            <a:r>
              <a:rPr sz="2300" kern="0" spc="1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自然/人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文环境</a:t>
            </a:r>
            <a:r>
              <a:rPr sz="2300" kern="0" spc="-3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，或是在与</a:t>
            </a:r>
            <a:r>
              <a:rPr sz="2300" b="1" kern="0" spc="11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品牌方</a:t>
            </a:r>
            <a:r>
              <a:rPr sz="2300" kern="0" spc="42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“关键人物</a:t>
            </a:r>
            <a:r>
              <a:rPr sz="2300" kern="0" spc="-5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”</a:t>
            </a:r>
            <a:r>
              <a:rPr sz="2300" kern="0" spc="-5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的互动中吸取创作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灵感</a:t>
            </a:r>
            <a:r>
              <a:rPr sz="2300" kern="0" spc="-3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，让旋律在交互中迸发。</a:t>
            </a:r>
            <a:endParaRPr sz="23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59080" indent="3175" algn="l" rtl="0" eaLnBrk="0">
              <a:lnSpc>
                <a:spcPct val="98000"/>
              </a:lnSpc>
              <a:spcBef>
                <a:spcPts val="3"/>
              </a:spcBef>
              <a:tabLst/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带着</a:t>
            </a:r>
            <a:r>
              <a:rPr sz="2300" kern="0" spc="39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“</a:t>
            </a:r>
            <a:r>
              <a:rPr sz="2300" kern="0" spc="-52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内容思维</a:t>
            </a:r>
            <a:r>
              <a:rPr sz="2300" kern="0" spc="-5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”进行植入</a:t>
            </a:r>
            <a:r>
              <a:rPr sz="2300" kern="0" spc="-3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，不仅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仅将节目作为曝光工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具</a:t>
            </a:r>
            <a:r>
              <a:rPr sz="2300" kern="0" spc="-3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，而是让品牌以</a:t>
            </a:r>
            <a:r>
              <a:rPr sz="2300" kern="0" spc="4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“玩在一起</a:t>
            </a:r>
            <a:r>
              <a:rPr sz="2300" kern="0" spc="-5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”</a:t>
            </a:r>
            <a:r>
              <a:rPr sz="2300" kern="0" spc="-5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的方式融入其中。</a:t>
            </a:r>
            <a:endParaRPr sz="2300" dirty="0">
              <a:latin typeface="PingFang SC"/>
              <a:ea typeface="PingFang SC"/>
              <a:cs typeface="PingFang SC"/>
            </a:endParaRPr>
          </a:p>
        </p:txBody>
      </p:sp>
      <p:grpSp>
        <p:nvGrpSpPr>
          <p:cNvPr id="22" name="group 22"/>
          <p:cNvGrpSpPr/>
          <p:nvPr/>
        </p:nvGrpSpPr>
        <p:grpSpPr>
          <a:xfrm rot="21600000">
            <a:off x="284988" y="228282"/>
            <a:ext cx="6640956" cy="710819"/>
            <a:chOff x="0" y="0"/>
            <a:chExt cx="6640956" cy="710819"/>
          </a:xfrm>
        </p:grpSpPr>
        <p:sp>
          <p:nvSpPr>
            <p:cNvPr id="152" name="rect 152"/>
            <p:cNvSpPr/>
            <p:nvPr/>
          </p:nvSpPr>
          <p:spPr>
            <a:xfrm>
              <a:off x="0" y="0"/>
              <a:ext cx="6640956" cy="710819"/>
            </a:xfrm>
            <a:prstGeom prst="rect">
              <a:avLst/>
            </a:prstGeom>
            <a:solidFill>
              <a:srgbClr val="C9EDF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4" name="textbox 154"/>
            <p:cNvSpPr/>
            <p:nvPr/>
          </p:nvSpPr>
          <p:spPr>
            <a:xfrm>
              <a:off x="1018749" y="96742"/>
              <a:ext cx="5334000" cy="589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2700" b="1" kern="0" spc="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节目模式：</a:t>
              </a:r>
              <a:r>
                <a:rPr sz="2700" kern="0" spc="-72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2700" b="1" kern="0" spc="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新老音乐人的共</a:t>
              </a:r>
              <a:r>
                <a:rPr sz="2700" b="1" kern="0" spc="5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创之旅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  <a:p>
              <a:pPr marL="43180" algn="l" rtl="0" eaLnBrk="0">
                <a:lnSpc>
                  <a:spcPct val="84000"/>
                </a:lnSpc>
                <a:spcBef>
                  <a:spcPts val="9"/>
                </a:spcBef>
                <a:tabLst/>
              </a:pP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U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-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8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N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E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156" name="picture 15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06184" y="104775"/>
              <a:ext cx="421004" cy="520064"/>
            </a:xfrm>
            <a:prstGeom prst="rect">
              <a:avLst/>
            </a:prstGeom>
          </p:spPr>
        </p:pic>
      </p:grpSp>
      <p:pic>
        <p:nvPicPr>
          <p:cNvPr id="158" name="picture 1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639300" y="5763767"/>
            <a:ext cx="2062529" cy="7915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1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 rot="21600000">
            <a:off x="650437" y="1379552"/>
            <a:ext cx="3493318" cy="4253975"/>
            <a:chOff x="0" y="0"/>
            <a:chExt cx="3493318" cy="4253975"/>
          </a:xfrm>
        </p:grpSpPr>
        <p:pic>
          <p:nvPicPr>
            <p:cNvPr id="162" name="picture 16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493318" cy="4253975"/>
            </a:xfrm>
            <a:prstGeom prst="rect">
              <a:avLst/>
            </a:prstGeom>
          </p:spPr>
        </p:pic>
        <p:sp>
          <p:nvSpPr>
            <p:cNvPr id="164" name="textbox 164"/>
            <p:cNvSpPr/>
            <p:nvPr/>
          </p:nvSpPr>
          <p:spPr>
            <a:xfrm>
              <a:off x="-43188" y="-12700"/>
              <a:ext cx="3549650" cy="42799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eaVert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673735" algn="l" rtl="0" eaLnBrk="0">
                <a:lnSpc>
                  <a:spcPct val="96000"/>
                </a:lnSpc>
                <a:spcBef>
                  <a:spcPts val="6"/>
                </a:spcBef>
                <a:tabLst/>
              </a:pPr>
              <a:r>
                <a:rPr sz="1700" kern="0" spc="9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梁</a:t>
              </a:r>
              <a:r>
                <a:rPr sz="1700" kern="0" spc="4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700" kern="0" spc="9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龙</a:t>
              </a:r>
              <a:r>
                <a:rPr sz="1700" kern="0" spc="11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</a:t>
              </a:r>
              <a:r>
                <a:rPr sz="1700" kern="0" spc="90" dirty="0">
                  <a:solidFill>
                    <a:srgbClr val="FFF1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二手玫瑰</a:t>
              </a:r>
              <a:endParaRPr sz="1700" dirty="0">
                <a:latin typeface="PingFang SC"/>
                <a:ea typeface="PingFang SC"/>
                <a:cs typeface="PingFang SC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21600000">
            <a:off x="4909185" y="1339019"/>
            <a:ext cx="2771775" cy="4437576"/>
            <a:chOff x="0" y="0"/>
            <a:chExt cx="2771775" cy="4437576"/>
          </a:xfrm>
        </p:grpSpPr>
        <p:pic>
          <p:nvPicPr>
            <p:cNvPr id="166" name="picture 16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771775" cy="4437576"/>
            </a:xfrm>
            <a:prstGeom prst="rect">
              <a:avLst/>
            </a:prstGeom>
          </p:spPr>
        </p:pic>
        <p:sp>
          <p:nvSpPr>
            <p:cNvPr id="168" name="textbox 168"/>
            <p:cNvSpPr/>
            <p:nvPr/>
          </p:nvSpPr>
          <p:spPr>
            <a:xfrm>
              <a:off x="-43404" y="-12700"/>
              <a:ext cx="2828290" cy="44634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eaVert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708025" algn="l" rtl="0" eaLnBrk="0">
                <a:lnSpc>
                  <a:spcPct val="94000"/>
                </a:lnSpc>
                <a:spcBef>
                  <a:spcPts val="7"/>
                </a:spcBef>
                <a:tabLst/>
              </a:pPr>
              <a:r>
                <a:rPr sz="1700" kern="0" spc="8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詹雯婷</a:t>
              </a:r>
              <a:r>
                <a:rPr sz="1700" kern="0" spc="2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200" kern="0" spc="80" dirty="0">
                  <a:solidFill>
                    <a:srgbClr val="FFF1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原</a:t>
              </a:r>
              <a:r>
                <a:rPr sz="1700" kern="0" spc="80" dirty="0">
                  <a:solidFill>
                    <a:srgbClr val="FFF1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飞儿乐队</a:t>
              </a:r>
              <a:endParaRPr sz="1700" dirty="0">
                <a:latin typeface="PingFang SC"/>
                <a:ea typeface="PingFang SC"/>
                <a:cs typeface="PingFang SC"/>
              </a:endParaRPr>
            </a:p>
          </p:txBody>
        </p:sp>
      </p:grpSp>
      <p:pic>
        <p:nvPicPr>
          <p:cNvPr id="170" name="picture 1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913529" y="1398717"/>
            <a:ext cx="2676365" cy="4250114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 rot="21600000">
            <a:off x="284988" y="228282"/>
            <a:ext cx="6640956" cy="710819"/>
            <a:chOff x="0" y="0"/>
            <a:chExt cx="6640956" cy="710819"/>
          </a:xfrm>
        </p:grpSpPr>
        <p:sp>
          <p:nvSpPr>
            <p:cNvPr id="172" name="rect 172"/>
            <p:cNvSpPr/>
            <p:nvPr/>
          </p:nvSpPr>
          <p:spPr>
            <a:xfrm>
              <a:off x="0" y="0"/>
              <a:ext cx="6640956" cy="710819"/>
            </a:xfrm>
            <a:prstGeom prst="rect">
              <a:avLst/>
            </a:prstGeom>
            <a:solidFill>
              <a:srgbClr val="C9EDF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4" name="textbox 174"/>
            <p:cNvSpPr/>
            <p:nvPr/>
          </p:nvSpPr>
          <p:spPr>
            <a:xfrm>
              <a:off x="1018749" y="96742"/>
              <a:ext cx="5426710" cy="589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2700" b="1" kern="0" spc="11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节目嘉宾：</a:t>
              </a:r>
              <a:r>
                <a:rPr sz="2700" kern="0" spc="-71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2700" b="1" kern="0" spc="11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乐队出身</a:t>
              </a:r>
              <a:r>
                <a:rPr sz="2700" b="1" kern="0" spc="1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创作实力强劲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  <a:p>
              <a:pPr marL="43180" algn="l" rtl="0" eaLnBrk="0">
                <a:lnSpc>
                  <a:spcPct val="84000"/>
                </a:lnSpc>
                <a:spcBef>
                  <a:spcPts val="9"/>
                </a:spcBef>
                <a:tabLst/>
              </a:pP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U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-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8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N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E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176" name="picture 17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206184" y="104775"/>
              <a:ext cx="421004" cy="520064"/>
            </a:xfrm>
            <a:prstGeom prst="rect">
              <a:avLst/>
            </a:prstGeom>
          </p:spPr>
        </p:pic>
      </p:grpSp>
      <p:sp>
        <p:nvSpPr>
          <p:cNvPr id="178" name="textbox 178"/>
          <p:cNvSpPr/>
          <p:nvPr/>
        </p:nvSpPr>
        <p:spPr>
          <a:xfrm>
            <a:off x="751579" y="5976478"/>
            <a:ext cx="7903210" cy="569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9000"/>
              </a:lnSpc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·资深音乐人（拟邀</a:t>
            </a:r>
            <a:r>
              <a:rPr sz="1500" b="1" kern="0" spc="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位</a:t>
            </a:r>
            <a:r>
              <a:rPr sz="1400" kern="0" spc="-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</a:t>
            </a:r>
            <a:r>
              <a:rPr sz="1400" kern="0" spc="-2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-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刘宇宁（摩登兄弟主唱）</a:t>
            </a:r>
            <a:r>
              <a:rPr sz="1400" kern="0" spc="-2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、张淇（原黑豹乐队主唱）徐良（内地音乐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人）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·音乐新生（拟邀</a:t>
            </a:r>
            <a:r>
              <a:rPr sz="1500" b="1" kern="0" spc="1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位全国高校乐队争霸赛人气主唱）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80" name="picture 1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639300" y="5763767"/>
            <a:ext cx="2062529" cy="791596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 rot="21600000">
            <a:off x="10847832" y="1994916"/>
            <a:ext cx="409956" cy="2063495"/>
            <a:chOff x="0" y="0"/>
            <a:chExt cx="409956" cy="2063495"/>
          </a:xfrm>
        </p:grpSpPr>
        <p:grpSp>
          <p:nvGrpSpPr>
            <p:cNvPr id="32" name="group 32"/>
            <p:cNvGrpSpPr/>
            <p:nvPr/>
          </p:nvGrpSpPr>
          <p:grpSpPr>
            <a:xfrm rot="21600000">
              <a:off x="0" y="0"/>
              <a:ext cx="409956" cy="2063495"/>
              <a:chOff x="0" y="0"/>
              <a:chExt cx="409956" cy="2063495"/>
            </a:xfrm>
          </p:grpSpPr>
          <p:sp>
            <p:nvSpPr>
              <p:cNvPr id="182" name="path 182"/>
              <p:cNvSpPr/>
              <p:nvPr/>
            </p:nvSpPr>
            <p:spPr>
              <a:xfrm>
                <a:off x="0" y="0"/>
                <a:ext cx="409956" cy="815339"/>
              </a:xfrm>
              <a:custGeom>
                <a:avLst/>
                <a:gdLst/>
                <a:ahLst/>
                <a:cxnLst/>
                <a:rect l="0" t="0" r="0" b="0"/>
                <a:pathLst>
                  <a:path w="645" h="1283">
                    <a:moveTo>
                      <a:pt x="645" y="0"/>
                    </a:moveTo>
                    <a:lnTo>
                      <a:pt x="645" y="1283"/>
                    </a:lnTo>
                    <a:lnTo>
                      <a:pt x="0" y="1283"/>
                    </a:lnTo>
                    <a:lnTo>
                      <a:pt x="0" y="0"/>
                    </a:lnTo>
                    <a:lnTo>
                      <a:pt x="645" y="0"/>
                    </a:lnTo>
                  </a:path>
                </a:pathLst>
              </a:custGeom>
              <a:solidFill>
                <a:srgbClr val="99C4F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path 184"/>
              <p:cNvSpPr/>
              <p:nvPr/>
            </p:nvSpPr>
            <p:spPr>
              <a:xfrm>
                <a:off x="0" y="699515"/>
                <a:ext cx="409956" cy="1363979"/>
              </a:xfrm>
              <a:custGeom>
                <a:avLst/>
                <a:gdLst/>
                <a:ahLst/>
                <a:cxnLst/>
                <a:rect l="0" t="0" r="0" b="0"/>
                <a:pathLst>
                  <a:path w="645" h="2148">
                    <a:moveTo>
                      <a:pt x="645" y="182"/>
                    </a:moveTo>
                    <a:lnTo>
                      <a:pt x="645" y="2148"/>
                    </a:lnTo>
                    <a:lnTo>
                      <a:pt x="0" y="2148"/>
                    </a:lnTo>
                    <a:lnTo>
                      <a:pt x="0" y="182"/>
                    </a:lnTo>
                    <a:lnTo>
                      <a:pt x="645" y="182"/>
                    </a:lnTo>
                  </a:path>
                  <a:path w="645" h="2148">
                    <a:moveTo>
                      <a:pt x="0" y="0"/>
                    </a:moveTo>
                    <a:lnTo>
                      <a:pt x="292" y="189"/>
                    </a:lnTo>
                    <a:lnTo>
                      <a:pt x="0" y="38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34DC5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6" name="textbox 186"/>
            <p:cNvSpPr/>
            <p:nvPr/>
          </p:nvSpPr>
          <p:spPr>
            <a:xfrm>
              <a:off x="-42541" y="-12700"/>
              <a:ext cx="465455" cy="2089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eaVert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52070" algn="l" rtl="0" eaLnBrk="0">
                <a:lnSpc>
                  <a:spcPct val="95000"/>
                </a:lnSpc>
                <a:spcBef>
                  <a:spcPts val="4"/>
                </a:spcBef>
                <a:tabLst/>
              </a:pPr>
              <a:r>
                <a:rPr sz="1700" kern="0" spc="10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焦迈奇</a:t>
              </a:r>
              <a:r>
                <a:rPr sz="1700" kern="0" spc="15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700" kern="0" spc="100" dirty="0">
                  <a:solidFill>
                    <a:srgbClr val="FFF1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麦季蜉蝣</a:t>
              </a:r>
              <a:endParaRPr sz="1700" dirty="0">
                <a:latin typeface="PingFang SC"/>
                <a:ea typeface="PingFang SC"/>
                <a:cs typeface="PingFang SC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 rot="21600000">
            <a:off x="304800" y="1804415"/>
            <a:ext cx="3590544" cy="2328672"/>
            <a:chOff x="0" y="0"/>
            <a:chExt cx="3590544" cy="2328672"/>
          </a:xfrm>
        </p:grpSpPr>
        <p:pic>
          <p:nvPicPr>
            <p:cNvPr id="190" name="picture 19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590544" cy="2328672"/>
            </a:xfrm>
            <a:prstGeom prst="rect">
              <a:avLst/>
            </a:prstGeom>
          </p:spPr>
        </p:pic>
        <p:sp>
          <p:nvSpPr>
            <p:cNvPr id="192" name="textbox 192"/>
            <p:cNvSpPr/>
            <p:nvPr/>
          </p:nvSpPr>
          <p:spPr>
            <a:xfrm>
              <a:off x="-12700" y="-12700"/>
              <a:ext cx="3616325" cy="24022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10285" algn="l" rtl="0" eaLnBrk="0">
                <a:lnSpc>
                  <a:spcPct val="92000"/>
                </a:lnSpc>
                <a:spcBef>
                  <a:spcPts val="4"/>
                </a:spcBef>
                <a:tabLst/>
              </a:pPr>
              <a:r>
                <a:rPr sz="2700" kern="0" spc="100" dirty="0">
                  <a:solidFill>
                    <a:srgbClr val="E7207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音乐+城市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21600000">
            <a:off x="8281416" y="1769364"/>
            <a:ext cx="3589019" cy="2328671"/>
            <a:chOff x="0" y="0"/>
            <a:chExt cx="3589019" cy="2328671"/>
          </a:xfrm>
        </p:grpSpPr>
        <p:pic>
          <p:nvPicPr>
            <p:cNvPr id="194" name="picture 19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3589019" cy="2328671"/>
            </a:xfrm>
            <a:prstGeom prst="rect">
              <a:avLst/>
            </a:prstGeom>
          </p:spPr>
        </p:pic>
        <p:sp>
          <p:nvSpPr>
            <p:cNvPr id="196" name="textbox 196"/>
            <p:cNvSpPr/>
            <p:nvPr/>
          </p:nvSpPr>
          <p:spPr>
            <a:xfrm>
              <a:off x="-12700" y="-12700"/>
              <a:ext cx="3614420" cy="24022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09014" algn="l" rtl="0" eaLnBrk="0">
                <a:lnSpc>
                  <a:spcPct val="93000"/>
                </a:lnSpc>
                <a:spcBef>
                  <a:spcPts val="2"/>
                </a:spcBef>
                <a:tabLst/>
              </a:pPr>
              <a:r>
                <a:rPr sz="2700" kern="0" spc="100" dirty="0">
                  <a:solidFill>
                    <a:srgbClr val="E7207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音乐+产品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21600000">
            <a:off x="4319016" y="1796795"/>
            <a:ext cx="3576827" cy="2328672"/>
            <a:chOff x="0" y="0"/>
            <a:chExt cx="3576827" cy="2328672"/>
          </a:xfrm>
        </p:grpSpPr>
        <p:pic>
          <p:nvPicPr>
            <p:cNvPr id="198" name="picture 19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3576827" cy="2328672"/>
            </a:xfrm>
            <a:prstGeom prst="rect">
              <a:avLst/>
            </a:prstGeom>
          </p:spPr>
        </p:pic>
        <p:sp>
          <p:nvSpPr>
            <p:cNvPr id="200" name="textbox 200"/>
            <p:cNvSpPr/>
            <p:nvPr/>
          </p:nvSpPr>
          <p:spPr>
            <a:xfrm>
              <a:off x="-12700" y="-12700"/>
              <a:ext cx="3602355" cy="23996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96314" algn="l" rtl="0" eaLnBrk="0">
                <a:lnSpc>
                  <a:spcPct val="92000"/>
                </a:lnSpc>
                <a:spcBef>
                  <a:spcPts val="6"/>
                </a:spcBef>
                <a:tabLst/>
              </a:pPr>
              <a:r>
                <a:rPr sz="2700" kern="0" spc="100" dirty="0">
                  <a:solidFill>
                    <a:srgbClr val="E7207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音乐+品牌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21600000">
            <a:off x="284988" y="228282"/>
            <a:ext cx="6640956" cy="710819"/>
            <a:chOff x="0" y="0"/>
            <a:chExt cx="6640956" cy="710819"/>
          </a:xfrm>
        </p:grpSpPr>
        <p:sp>
          <p:nvSpPr>
            <p:cNvPr id="202" name="rect 202"/>
            <p:cNvSpPr/>
            <p:nvPr/>
          </p:nvSpPr>
          <p:spPr>
            <a:xfrm>
              <a:off x="0" y="0"/>
              <a:ext cx="6640956" cy="710819"/>
            </a:xfrm>
            <a:prstGeom prst="rect">
              <a:avLst/>
            </a:prstGeom>
            <a:solidFill>
              <a:srgbClr val="C9EDF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" name="textbox 204"/>
            <p:cNvSpPr/>
            <p:nvPr/>
          </p:nvSpPr>
          <p:spPr>
            <a:xfrm>
              <a:off x="1018749" y="96742"/>
              <a:ext cx="5334000" cy="589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2700" b="1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节目内容：</a:t>
              </a:r>
              <a:r>
                <a:rPr sz="2700" kern="0" spc="-6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2700" b="1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与城市</a:t>
              </a:r>
              <a:r>
                <a:rPr sz="2700" kern="0" spc="-5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2700" b="1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、品牌同频共振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  <a:p>
              <a:pPr marL="43180" algn="l" rtl="0" eaLnBrk="0">
                <a:lnSpc>
                  <a:spcPct val="84000"/>
                </a:lnSpc>
                <a:spcBef>
                  <a:spcPts val="9"/>
                </a:spcBef>
                <a:tabLst/>
              </a:pP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U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-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8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N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E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206" name="picture 20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206184" y="104775"/>
              <a:ext cx="421004" cy="520064"/>
            </a:xfrm>
            <a:prstGeom prst="rect">
              <a:avLst/>
            </a:prstGeom>
          </p:spPr>
        </p:pic>
      </p:grpSp>
      <p:sp>
        <p:nvSpPr>
          <p:cNvPr id="208" name="textbox 208"/>
          <p:cNvSpPr/>
          <p:nvPr/>
        </p:nvSpPr>
        <p:spPr>
          <a:xfrm>
            <a:off x="4614235" y="4371416"/>
            <a:ext cx="2873375" cy="147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22000"/>
              </a:lnSpc>
              <a:tabLst/>
            </a:pPr>
            <a:r>
              <a:rPr sz="1700" u="sng" kern="0" spc="19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打造品牌年轻化潮流</a:t>
            </a:r>
            <a:r>
              <a:rPr sz="1700" u="sng" kern="0" spc="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ICON</a:t>
            </a:r>
            <a:endParaRPr sz="17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6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7000"/>
              </a:lnSpc>
              <a:spcBef>
                <a:spcPts val="428"/>
              </a:spcBef>
              <a:tabLst/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以音乐创作为桥梁</a:t>
            </a:r>
            <a:r>
              <a:rPr sz="1400" kern="0" spc="-2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，帮助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品牌创建属</a:t>
            </a:r>
            <a:endParaRPr sz="1400" dirty="0">
              <a:latin typeface="PingFang SC"/>
              <a:ea typeface="PingFang SC"/>
              <a:cs typeface="PingFang SC"/>
            </a:endParaRPr>
          </a:p>
          <a:p>
            <a:pPr marL="24130" algn="l" rtl="0" eaLnBrk="0">
              <a:lnSpc>
                <a:spcPts val="1770"/>
              </a:lnSpc>
              <a:tabLst/>
            </a:pPr>
            <a:r>
              <a:rPr sz="1400" kern="0" spc="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于自己的年轻化潮流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ICON</a:t>
            </a:r>
            <a:r>
              <a:rPr sz="1400" kern="0" spc="-2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，让品牌</a:t>
            </a:r>
            <a:endParaRPr sz="14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ct val="89000"/>
              </a:lnSpc>
              <a:spcBef>
                <a:spcPts val="116"/>
              </a:spcBef>
              <a:tabLst/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与节目深度融合</a:t>
            </a:r>
            <a:r>
              <a:rPr sz="1400" kern="0" spc="-2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，拉近观众距离的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同</a:t>
            </a:r>
            <a:endParaRPr sz="1400" dirty="0">
              <a:latin typeface="PingFang SC"/>
              <a:ea typeface="PingFang SC"/>
              <a:cs typeface="PingFang SC"/>
            </a:endParaRPr>
          </a:p>
          <a:p>
            <a:pPr marL="636270" algn="l" rtl="0" eaLnBrk="0">
              <a:lnSpc>
                <a:spcPct val="89000"/>
              </a:lnSpc>
              <a:spcBef>
                <a:spcPts val="185"/>
              </a:spcBef>
              <a:tabLst/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时</a:t>
            </a:r>
            <a:r>
              <a:rPr sz="1400" kern="0" spc="-2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，传达品牌态度。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8733801" y="4414012"/>
            <a:ext cx="2983865" cy="1224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91185" algn="l" rtl="0" eaLnBrk="0">
              <a:lnSpc>
                <a:spcPct val="94000"/>
              </a:lnSpc>
              <a:tabLst/>
            </a:pPr>
            <a:r>
              <a:rPr sz="1700" u="sng" kern="0" spc="17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共创城市音乐</a:t>
            </a:r>
            <a:r>
              <a:rPr sz="1700" u="sng" kern="0" spc="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EP</a:t>
            </a:r>
            <a:endParaRPr sz="17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8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426"/>
              </a:spcBef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旅程的最后</a:t>
            </a:r>
            <a:r>
              <a:rPr sz="1400" kern="0" spc="-1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，9位音乐人将合力共创一</a:t>
            </a:r>
            <a:endParaRPr sz="1400" dirty="0">
              <a:latin typeface="PingFang SC"/>
              <a:ea typeface="PingFang SC"/>
              <a:cs typeface="PingFang SC"/>
            </a:endParaRPr>
          </a:p>
          <a:p>
            <a:pPr marL="428625" indent="-400050" algn="l" rtl="0" eaLnBrk="0">
              <a:lnSpc>
                <a:spcPct val="95000"/>
              </a:lnSpc>
              <a:spcBef>
                <a:spcPts val="193"/>
              </a:spcBef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张城市音乐EP</a:t>
            </a:r>
            <a:r>
              <a:rPr sz="1400" kern="0" spc="-2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，作为给在城市努力拼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搏的每一位年轻人的献礼。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689216" y="4414012"/>
            <a:ext cx="2853055" cy="1018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8775" algn="l" rtl="0" eaLnBrk="0">
              <a:lnSpc>
                <a:spcPct val="94000"/>
              </a:lnSpc>
              <a:tabLst/>
            </a:pPr>
            <a:r>
              <a:rPr sz="1700" u="sng" kern="0" spc="2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以音促节</a:t>
            </a:r>
            <a:r>
              <a:rPr sz="1700" u="sng" kern="0" spc="-20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u="sng" kern="0" spc="2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700" u="sng" kern="0" spc="-41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u="sng" kern="0" spc="2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以节促旅</a:t>
            </a:r>
            <a:endParaRPr sz="17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9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716280" indent="-70358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以节目资源赋能城市音乐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节落地</a:t>
            </a:r>
            <a:r>
              <a:rPr sz="1400" kern="0" spc="-2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，带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动地方文旅收入。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14" name="picture 2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639300" y="5763767"/>
            <a:ext cx="2062529" cy="7915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picture 2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218" name="picture 2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572000" y="2801112"/>
            <a:ext cx="7243572" cy="2045208"/>
          </a:xfrm>
          <a:prstGeom prst="rect">
            <a:avLst/>
          </a:prstGeom>
        </p:spPr>
      </p:pic>
      <p:sp>
        <p:nvSpPr>
          <p:cNvPr id="220" name="textbox 220"/>
          <p:cNvSpPr/>
          <p:nvPr/>
        </p:nvSpPr>
        <p:spPr>
          <a:xfrm>
            <a:off x="730183" y="1339977"/>
            <a:ext cx="10601325" cy="1260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200" kern="0" spc="-1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节目×品牌高度匹配</a:t>
            </a:r>
            <a:r>
              <a:rPr sz="3200" kern="0" spc="-56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kern="0" spc="-1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，芒</a:t>
            </a:r>
            <a:r>
              <a:rPr sz="3200" kern="0" spc="-2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果综艺营销让品牌赢在起跑线上</a:t>
            </a:r>
            <a:endParaRPr sz="32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80010" indent="6350" algn="l" rtl="0" eaLnBrk="0">
              <a:lnSpc>
                <a:spcPct val="129000"/>
              </a:lnSpc>
              <a:spcBef>
                <a:spcPts val="3"/>
              </a:spcBef>
              <a:tabLst/>
            </a:pP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每集节目的采风任务会围绕一个品牌商的产品</a:t>
            </a:r>
            <a:r>
              <a:rPr sz="1700" kern="0" spc="-2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、营销</a:t>
            </a:r>
            <a:r>
              <a:rPr sz="1700" kern="0" spc="-2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700" kern="0" spc="-4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品牌精神或是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指定城市的非遗文化</a:t>
            </a:r>
            <a:r>
              <a:rPr sz="1700" kern="0" spc="-2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、地标</a:t>
            </a:r>
            <a:r>
              <a:rPr sz="1700" kern="0" spc="-2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、人文来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展开</a:t>
            </a:r>
            <a:r>
              <a:rPr sz="1700" kern="0" spc="-2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，相当于一期节目也是一</a:t>
            </a:r>
            <a:r>
              <a:rPr sz="17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次品牌的六十分钟回报。</a:t>
            </a:r>
            <a:endParaRPr sz="17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43712" y="2813304"/>
            <a:ext cx="3488436" cy="1982724"/>
          </a:xfrm>
          <a:prstGeom prst="rect">
            <a:avLst/>
          </a:prstGeom>
        </p:spPr>
      </p:pic>
      <p:sp>
        <p:nvSpPr>
          <p:cNvPr id="224" name="textbox 224"/>
          <p:cNvSpPr/>
          <p:nvPr/>
        </p:nvSpPr>
        <p:spPr>
          <a:xfrm>
            <a:off x="730365" y="4867763"/>
            <a:ext cx="3402965" cy="1638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92455" algn="l" rtl="0" eaLnBrk="0">
              <a:lnSpc>
                <a:spcPct val="90000"/>
              </a:lnSpc>
              <a:tabLst/>
            </a:pPr>
            <a:r>
              <a:rPr sz="2000" u="sng" kern="0" spc="-70" dirty="0">
                <a:solidFill>
                  <a:srgbClr val="E7207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创新玩法</a:t>
            </a:r>
            <a:r>
              <a:rPr sz="2000" u="sng" kern="0" spc="-270" dirty="0">
                <a:solidFill>
                  <a:srgbClr val="E7207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000" u="sng" kern="0" spc="-70" dirty="0">
                <a:solidFill>
                  <a:srgbClr val="E7207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2000" u="sng" kern="0" spc="-540" dirty="0">
                <a:solidFill>
                  <a:srgbClr val="E7207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000" u="sng" kern="0" spc="-70" dirty="0">
                <a:solidFill>
                  <a:srgbClr val="E7207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内容植入</a:t>
            </a:r>
            <a:endParaRPr sz="20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ct val="91000"/>
              </a:lnSpc>
              <a:spcBef>
                <a:spcPts val="885"/>
              </a:spcBef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将品牌信息以</a:t>
            </a:r>
            <a:r>
              <a:rPr sz="1400" b="1" kern="0" spc="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任务发布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的形式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贯穿单集节目</a:t>
            </a:r>
            <a:endParaRPr sz="1400" dirty="0">
              <a:latin typeface="PingFang SC"/>
              <a:ea typeface="PingFang SC"/>
              <a:cs typeface="PingFang SC"/>
            </a:endParaRPr>
          </a:p>
          <a:p>
            <a:pPr marL="17780" algn="l" rtl="0" eaLnBrk="0">
              <a:lnSpc>
                <a:spcPct val="87000"/>
              </a:lnSpc>
              <a:spcBef>
                <a:spcPts val="675"/>
              </a:spcBef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始终</a:t>
            </a:r>
            <a:r>
              <a:rPr sz="1400" kern="0" spc="-2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，让消费者在无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形中加深对合作品牌的</a:t>
            </a:r>
            <a:endParaRPr sz="1400" dirty="0">
              <a:latin typeface="PingFang SC"/>
              <a:ea typeface="PingFang SC"/>
              <a:cs typeface="PingFang SC"/>
            </a:endParaRPr>
          </a:p>
          <a:p>
            <a:pPr marL="64770" algn="l" rtl="0" eaLnBrk="0">
              <a:lnSpc>
                <a:spcPct val="99000"/>
              </a:lnSpc>
              <a:spcBef>
                <a:spcPts val="672"/>
              </a:spcBef>
              <a:tabLst/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认知度</a:t>
            </a:r>
            <a:r>
              <a:rPr sz="1200" b="1" kern="0" spc="-2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（如</a:t>
            </a:r>
            <a:r>
              <a:rPr sz="1200" kern="0" spc="-18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b="1" kern="0" spc="-2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：每一次采风</a:t>
            </a:r>
            <a:r>
              <a:rPr sz="1200" b="1" kern="0" spc="-3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任务完成后</a:t>
            </a:r>
            <a:r>
              <a:rPr sz="1200" kern="0" spc="-21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b="1" kern="0" spc="-3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，随机进行</a:t>
            </a:r>
            <a:endParaRPr sz="1200" dirty="0">
              <a:latin typeface="PingFang SC"/>
              <a:ea typeface="PingFang SC"/>
              <a:cs typeface="PingFang SC"/>
            </a:endParaRPr>
          </a:p>
          <a:p>
            <a:pPr marL="53339" algn="l" rtl="0" eaLnBrk="0">
              <a:lnSpc>
                <a:spcPct val="88000"/>
              </a:lnSpc>
              <a:spcBef>
                <a:spcPts val="466"/>
              </a:spcBef>
              <a:tabLst/>
            </a:pPr>
            <a:r>
              <a:rPr sz="1200" b="1" kern="0" spc="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城市人文常识或品牌关键信息小考</a:t>
            </a:r>
            <a:r>
              <a:rPr sz="1200" kern="0" spc="-15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b="1" kern="0" spc="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，为城市EP制</a:t>
            </a:r>
            <a:endParaRPr sz="12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900430" algn="l" rtl="0" eaLnBrk="0">
              <a:lnSpc>
                <a:spcPts val="1511"/>
              </a:lnSpc>
              <a:spcBef>
                <a:spcPts val="3"/>
              </a:spcBef>
              <a:tabLst/>
            </a:pPr>
            <a:r>
              <a:rPr sz="1200" b="1" kern="0" spc="-1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作赢取录音/混音设备）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grpSp>
        <p:nvGrpSpPr>
          <p:cNvPr id="42" name="group 42"/>
          <p:cNvGrpSpPr/>
          <p:nvPr/>
        </p:nvGrpSpPr>
        <p:grpSpPr>
          <a:xfrm rot="21600000">
            <a:off x="284988" y="227965"/>
            <a:ext cx="6640956" cy="711200"/>
            <a:chOff x="0" y="0"/>
            <a:chExt cx="6640956" cy="711200"/>
          </a:xfrm>
        </p:grpSpPr>
        <p:sp>
          <p:nvSpPr>
            <p:cNvPr id="226" name="rect 226"/>
            <p:cNvSpPr/>
            <p:nvPr/>
          </p:nvSpPr>
          <p:spPr>
            <a:xfrm>
              <a:off x="0" y="0"/>
              <a:ext cx="6640956" cy="711200"/>
            </a:xfrm>
            <a:prstGeom prst="rect">
              <a:avLst/>
            </a:prstGeom>
            <a:solidFill>
              <a:srgbClr val="C9EDF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8" name="textbox 228"/>
            <p:cNvSpPr/>
            <p:nvPr/>
          </p:nvSpPr>
          <p:spPr>
            <a:xfrm>
              <a:off x="1018749" y="97059"/>
              <a:ext cx="4978400" cy="589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2700" b="1" kern="0" spc="5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节目亮点：</a:t>
              </a:r>
              <a:r>
                <a:rPr sz="2700" kern="0" spc="-6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2700" b="1" kern="0" spc="5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芒果综艺精神的传承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  <a:p>
              <a:pPr marL="43180" algn="l" rtl="0" eaLnBrk="0">
                <a:lnSpc>
                  <a:spcPct val="84000"/>
                </a:lnSpc>
                <a:spcBef>
                  <a:spcPts val="9"/>
                </a:spcBef>
                <a:tabLst/>
              </a:pP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U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-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8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N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E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230" name="picture 23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206184" y="105092"/>
              <a:ext cx="421004" cy="520064"/>
            </a:xfrm>
            <a:prstGeom prst="rect">
              <a:avLst/>
            </a:prstGeom>
          </p:spPr>
        </p:pic>
      </p:grpSp>
      <p:pic>
        <p:nvPicPr>
          <p:cNvPr id="232" name="picture 2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639300" y="5763767"/>
            <a:ext cx="2062529" cy="791596"/>
          </a:xfrm>
          <a:prstGeom prst="rect">
            <a:avLst/>
          </a:prstGeom>
        </p:spPr>
      </p:pic>
      <p:sp>
        <p:nvSpPr>
          <p:cNvPr id="234" name="textbox 234"/>
          <p:cNvSpPr/>
          <p:nvPr/>
        </p:nvSpPr>
        <p:spPr>
          <a:xfrm>
            <a:off x="5923420" y="4932282"/>
            <a:ext cx="4799330" cy="918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09320" algn="l" rtl="0" eaLnBrk="0">
              <a:lnSpc>
                <a:spcPct val="89000"/>
              </a:lnSpc>
              <a:tabLst/>
            </a:pPr>
            <a:r>
              <a:rPr sz="2000" u="sng" kern="0" spc="-50" dirty="0">
                <a:solidFill>
                  <a:srgbClr val="E7207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多重曝光</a:t>
            </a:r>
            <a:r>
              <a:rPr sz="2000" u="sng" kern="0" spc="-250" dirty="0">
                <a:solidFill>
                  <a:srgbClr val="E7207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000" u="sng" kern="0" spc="-50" dirty="0">
                <a:solidFill>
                  <a:srgbClr val="E7207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：品牌露出时效长</a:t>
            </a:r>
            <a:endParaRPr sz="20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0325" algn="l" rtl="0" eaLnBrk="0">
              <a:lnSpc>
                <a:spcPct val="89000"/>
              </a:lnSpc>
              <a:spcBef>
                <a:spcPts val="422"/>
              </a:spcBef>
              <a:tabLst/>
            </a:pP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“</a:t>
            </a:r>
            <a:r>
              <a:rPr sz="1400" kern="0" spc="-3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品牌+内容</a:t>
            </a:r>
            <a:r>
              <a:rPr sz="1400" kern="0" spc="-3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”</a:t>
            </a:r>
            <a:r>
              <a:rPr sz="1400" kern="0" spc="1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“品牌+艺人</a:t>
            </a:r>
            <a:r>
              <a:rPr sz="1400" kern="0" spc="-3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”</a:t>
            </a:r>
            <a:r>
              <a:rPr sz="1400" kern="0" spc="1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“品牌+口播</a:t>
            </a:r>
            <a:r>
              <a:rPr sz="1400" kern="0" spc="-3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”</a:t>
            </a:r>
            <a:r>
              <a:rPr sz="1400" kern="0" spc="-3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多重曝光</a:t>
            </a:r>
            <a:r>
              <a:rPr sz="1400" kern="0" spc="-2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以消</a:t>
            </a:r>
            <a:endParaRPr sz="1400" dirty="0">
              <a:latin typeface="PingFang SC"/>
              <a:ea typeface="PingFang SC"/>
              <a:cs typeface="PingFang SC"/>
            </a:endParaRPr>
          </a:p>
          <a:p>
            <a:pPr marL="968375" algn="l" rtl="0" eaLnBrk="0">
              <a:lnSpc>
                <a:spcPct val="91000"/>
              </a:lnSpc>
              <a:spcBef>
                <a:spcPts val="189"/>
              </a:spcBef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费者不反感的形式反复强调品牌信息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238" name="picture 2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017395" y="1335404"/>
            <a:ext cx="9250680" cy="4069080"/>
          </a:xfrm>
          <a:prstGeom prst="rect">
            <a:avLst/>
          </a:prstGeom>
        </p:spPr>
      </p:pic>
      <p:pic>
        <p:nvPicPr>
          <p:cNvPr id="240" name="picture 2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17420" y="1629156"/>
            <a:ext cx="6858000" cy="3520439"/>
          </a:xfrm>
          <a:prstGeom prst="rect">
            <a:avLst/>
          </a:prstGeom>
        </p:spPr>
      </p:pic>
      <p:sp>
        <p:nvSpPr>
          <p:cNvPr id="242" name="textbox 242"/>
          <p:cNvSpPr/>
          <p:nvPr/>
        </p:nvSpPr>
        <p:spPr>
          <a:xfrm>
            <a:off x="6408256" y="1826289"/>
            <a:ext cx="4637405" cy="3267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9000"/>
              </a:lnSpc>
              <a:tabLst/>
            </a:pPr>
            <a:r>
              <a:rPr sz="3200" kern="0" spc="-40" dirty="0">
                <a:solidFill>
                  <a:srgbClr val="E7207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前辈提携新人</a:t>
            </a:r>
            <a:endParaRPr sz="32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3884"/>
              </a:lnSpc>
              <a:tabLst/>
            </a:pPr>
            <a:r>
              <a:rPr sz="3200" kern="0" spc="440" dirty="0">
                <a:solidFill>
                  <a:srgbClr val="E7207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华语乐坛传承生生不</a:t>
            </a:r>
            <a:r>
              <a:rPr sz="3200" kern="0" spc="430" dirty="0">
                <a:solidFill>
                  <a:srgbClr val="E7207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息</a:t>
            </a:r>
            <a:endParaRPr sz="32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59480" algn="l" rtl="0" eaLnBrk="0">
              <a:lnSpc>
                <a:spcPts val="2009"/>
              </a:lnSpc>
              <a:spcBef>
                <a:spcPts val="454"/>
              </a:spcBef>
              <a:tabLst/>
            </a:pPr>
            <a:r>
              <a:rPr sz="1500" kern="0" spc="16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#歌比人红#</a:t>
            </a:r>
            <a:endParaRPr sz="1500" dirty="0">
              <a:latin typeface="PingFang SC"/>
              <a:ea typeface="PingFang SC"/>
              <a:cs typeface="PingFang SC"/>
            </a:endParaRPr>
          </a:p>
          <a:p>
            <a:pPr marL="2443480" algn="l" rtl="0" eaLnBrk="0">
              <a:lnSpc>
                <a:spcPts val="2009"/>
              </a:lnSpc>
              <a:spcBef>
                <a:spcPts val="485"/>
              </a:spcBef>
              <a:tabLst/>
            </a:pPr>
            <a:r>
              <a:rPr sz="1500" kern="0" spc="1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#华语乐坛音乐已死？#</a:t>
            </a:r>
            <a:endParaRPr sz="1500" dirty="0">
              <a:latin typeface="PingFang SC"/>
              <a:ea typeface="PingFang SC"/>
              <a:cs typeface="PingFang SC"/>
            </a:endParaRPr>
          </a:p>
          <a:p>
            <a:pPr marL="2849880" algn="l" rtl="0" eaLnBrk="0">
              <a:lnSpc>
                <a:spcPts val="2009"/>
              </a:lnSpc>
              <a:spcBef>
                <a:spcPts val="485"/>
              </a:spcBef>
              <a:tabLst/>
            </a:pPr>
            <a:r>
              <a:rPr sz="1500" kern="0" spc="14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#好听仅粉丝可见#</a:t>
            </a:r>
            <a:endParaRPr sz="15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240280" algn="l" rtl="0" eaLnBrk="0">
              <a:lnSpc>
                <a:spcPts val="2009"/>
              </a:lnSpc>
              <a:spcBef>
                <a:spcPts val="1"/>
              </a:spcBef>
              <a:tabLst/>
            </a:pPr>
            <a:r>
              <a:rPr sz="1500" kern="0" spc="1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#长期被口水歌精神霸凌#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grpSp>
        <p:nvGrpSpPr>
          <p:cNvPr id="44" name="group 44"/>
          <p:cNvGrpSpPr/>
          <p:nvPr/>
        </p:nvGrpSpPr>
        <p:grpSpPr>
          <a:xfrm rot="21600000">
            <a:off x="284988" y="228282"/>
            <a:ext cx="5574792" cy="710819"/>
            <a:chOff x="0" y="0"/>
            <a:chExt cx="5574792" cy="710819"/>
          </a:xfrm>
        </p:grpSpPr>
        <p:sp>
          <p:nvSpPr>
            <p:cNvPr id="244" name="rect 244"/>
            <p:cNvSpPr/>
            <p:nvPr/>
          </p:nvSpPr>
          <p:spPr>
            <a:xfrm>
              <a:off x="0" y="0"/>
              <a:ext cx="5574792" cy="710819"/>
            </a:xfrm>
            <a:prstGeom prst="rect">
              <a:avLst/>
            </a:prstGeom>
            <a:solidFill>
              <a:srgbClr val="C9EDFE">
                <a:alpha val="9647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6" name="textbox 246"/>
            <p:cNvSpPr/>
            <p:nvPr/>
          </p:nvSpPr>
          <p:spPr>
            <a:xfrm>
              <a:off x="1018749" y="96742"/>
              <a:ext cx="4267200" cy="589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2700" b="1" kern="0" spc="5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节目亮点：</a:t>
              </a:r>
              <a:r>
                <a:rPr sz="2700" kern="0" spc="-69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2700" b="1" kern="0" spc="5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华语乐坛的传</a:t>
              </a:r>
              <a:r>
                <a:rPr sz="2700" b="1" kern="0" spc="4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承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  <a:p>
              <a:pPr marL="43180" algn="l" rtl="0" eaLnBrk="0">
                <a:lnSpc>
                  <a:spcPct val="84000"/>
                </a:lnSpc>
                <a:spcBef>
                  <a:spcPts val="9"/>
                </a:spcBef>
                <a:tabLst/>
              </a:pP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U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-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8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N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E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248" name="picture 24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206184" y="104775"/>
              <a:ext cx="421004" cy="520064"/>
            </a:xfrm>
            <a:prstGeom prst="rect">
              <a:avLst/>
            </a:prstGeom>
          </p:spPr>
        </p:pic>
      </p:grpSp>
      <p:sp>
        <p:nvSpPr>
          <p:cNvPr id="250" name="textbox 250"/>
          <p:cNvSpPr/>
          <p:nvPr/>
        </p:nvSpPr>
        <p:spPr>
          <a:xfrm>
            <a:off x="944562" y="5791200"/>
            <a:ext cx="7834630" cy="398145"/>
          </a:xfrm>
          <a:prstGeom prst="rect">
            <a:avLst/>
          </a:prstGeom>
          <a:solidFill>
            <a:srgbClr val="C9EDF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5621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切入音乐话题谈论</a:t>
            </a:r>
            <a:r>
              <a:rPr sz="1500" kern="0" spc="-2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，不负音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乐人职业尊严</a:t>
            </a:r>
            <a:r>
              <a:rPr sz="1500" kern="0" spc="-2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，以高质量作品带领华语乐坛重返黄金年代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52" name="picture 2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639300" y="5763767"/>
            <a:ext cx="2062529" cy="7915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picture 2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 rot="21600000">
            <a:off x="800100" y="2110740"/>
            <a:ext cx="2385060" cy="2788920"/>
            <a:chOff x="0" y="0"/>
            <a:chExt cx="2385060" cy="2788920"/>
          </a:xfrm>
        </p:grpSpPr>
        <p:pic>
          <p:nvPicPr>
            <p:cNvPr id="256" name="picture 25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385060" cy="2788920"/>
            </a:xfrm>
            <a:prstGeom prst="rect">
              <a:avLst/>
            </a:prstGeom>
          </p:spPr>
        </p:pic>
        <p:sp>
          <p:nvSpPr>
            <p:cNvPr id="258" name="textbox 258"/>
            <p:cNvSpPr/>
            <p:nvPr/>
          </p:nvSpPr>
          <p:spPr>
            <a:xfrm>
              <a:off x="-12700" y="-12700"/>
              <a:ext cx="2410460" cy="28435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8745" algn="l" rtl="0" eaLnBrk="0">
                <a:lnSpc>
                  <a:spcPct val="90000"/>
                </a:lnSpc>
                <a:spcBef>
                  <a:spcPts val="2"/>
                </a:spcBef>
                <a:tabLst/>
              </a:pPr>
              <a:r>
                <a:rPr sz="1700" kern="0" spc="-20" dirty="0">
                  <a:solidFill>
                    <a:srgbClr val="E7207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唤醒被冷落的民族音乐</a:t>
              </a:r>
              <a:endParaRPr sz="1700" dirty="0">
                <a:latin typeface="PingFang SC"/>
                <a:ea typeface="PingFang SC"/>
                <a:cs typeface="PingFang SC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 rot="21600000">
            <a:off x="6422136" y="2127504"/>
            <a:ext cx="2328671" cy="2772156"/>
            <a:chOff x="0" y="0"/>
            <a:chExt cx="2328671" cy="2772156"/>
          </a:xfrm>
        </p:grpSpPr>
        <p:pic>
          <p:nvPicPr>
            <p:cNvPr id="260" name="picture 26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328671" cy="2772156"/>
            </a:xfrm>
            <a:prstGeom prst="rect">
              <a:avLst/>
            </a:prstGeom>
          </p:spPr>
        </p:pic>
        <p:sp>
          <p:nvSpPr>
            <p:cNvPr id="262" name="textbox 262"/>
            <p:cNvSpPr/>
            <p:nvPr/>
          </p:nvSpPr>
          <p:spPr>
            <a:xfrm>
              <a:off x="-12700" y="-12700"/>
              <a:ext cx="2354580" cy="28270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1285" algn="l" rtl="0" eaLnBrk="0">
                <a:lnSpc>
                  <a:spcPct val="91000"/>
                </a:lnSpc>
                <a:spcBef>
                  <a:spcPts val="2"/>
                </a:spcBef>
                <a:tabLst/>
              </a:pPr>
              <a:r>
                <a:rPr sz="1700" kern="0" spc="-20" dirty="0">
                  <a:solidFill>
                    <a:srgbClr val="E7207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唤醒被遗忘的民族故事</a:t>
              </a:r>
              <a:endParaRPr sz="1700" dirty="0">
                <a:latin typeface="PingFang SC"/>
                <a:ea typeface="PingFang SC"/>
                <a:cs typeface="PingFang SC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 rot="21600000">
            <a:off x="9154668" y="2127503"/>
            <a:ext cx="2261616" cy="2772156"/>
            <a:chOff x="0" y="0"/>
            <a:chExt cx="2261616" cy="2772156"/>
          </a:xfrm>
        </p:grpSpPr>
        <p:pic>
          <p:nvPicPr>
            <p:cNvPr id="264" name="picture 26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261616" cy="2772156"/>
            </a:xfrm>
            <a:prstGeom prst="rect">
              <a:avLst/>
            </a:prstGeom>
          </p:spPr>
        </p:pic>
        <p:sp>
          <p:nvSpPr>
            <p:cNvPr id="266" name="textbox 266"/>
            <p:cNvSpPr/>
            <p:nvPr/>
          </p:nvSpPr>
          <p:spPr>
            <a:xfrm>
              <a:off x="-12700" y="-12700"/>
              <a:ext cx="2287270" cy="28244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3660" algn="l" rtl="0" eaLnBrk="0">
                <a:lnSpc>
                  <a:spcPct val="95000"/>
                </a:lnSpc>
                <a:spcBef>
                  <a:spcPts val="3"/>
                </a:spcBef>
                <a:tabLst/>
              </a:pPr>
              <a:r>
                <a:rPr sz="1600" kern="0" spc="-80" dirty="0">
                  <a:solidFill>
                    <a:srgbClr val="E7207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传承生生不息的民族精神</a:t>
              </a:r>
              <a:endParaRPr sz="1600" dirty="0">
                <a:latin typeface="PingFang SC"/>
                <a:ea typeface="PingFang SC"/>
                <a:cs typeface="PingFang SC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 rot="21600000">
            <a:off x="3703320" y="2109216"/>
            <a:ext cx="2232659" cy="2790444"/>
            <a:chOff x="0" y="0"/>
            <a:chExt cx="2232659" cy="2790444"/>
          </a:xfrm>
        </p:grpSpPr>
        <p:pic>
          <p:nvPicPr>
            <p:cNvPr id="268" name="picture 26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232659" cy="2790444"/>
            </a:xfrm>
            <a:prstGeom prst="rect">
              <a:avLst/>
            </a:prstGeom>
          </p:spPr>
        </p:pic>
        <p:sp>
          <p:nvSpPr>
            <p:cNvPr id="270" name="textbox 270"/>
            <p:cNvSpPr/>
            <p:nvPr/>
          </p:nvSpPr>
          <p:spPr>
            <a:xfrm>
              <a:off x="-12700" y="-12700"/>
              <a:ext cx="2258060" cy="2844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8105" algn="l" rtl="0" eaLnBrk="0">
                <a:lnSpc>
                  <a:spcPct val="90000"/>
                </a:lnSpc>
                <a:spcBef>
                  <a:spcPts val="2"/>
                </a:spcBef>
                <a:tabLst/>
              </a:pPr>
              <a:r>
                <a:rPr sz="1700" kern="0" spc="-20" dirty="0">
                  <a:solidFill>
                    <a:srgbClr val="E7207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唤醒被忽视的民族文化</a:t>
              </a:r>
              <a:endParaRPr sz="1700" dirty="0">
                <a:latin typeface="PingFang SC"/>
                <a:ea typeface="PingFang SC"/>
                <a:cs typeface="PingFang SC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 rot="21600000">
            <a:off x="284988" y="228282"/>
            <a:ext cx="6198997" cy="710819"/>
            <a:chOff x="0" y="0"/>
            <a:chExt cx="6198997" cy="710819"/>
          </a:xfrm>
        </p:grpSpPr>
        <p:sp>
          <p:nvSpPr>
            <p:cNvPr id="272" name="rect 272"/>
            <p:cNvSpPr/>
            <p:nvPr/>
          </p:nvSpPr>
          <p:spPr>
            <a:xfrm>
              <a:off x="0" y="0"/>
              <a:ext cx="6198997" cy="710819"/>
            </a:xfrm>
            <a:prstGeom prst="rect">
              <a:avLst/>
            </a:prstGeom>
            <a:solidFill>
              <a:srgbClr val="C9EDF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4" name="textbox 274"/>
            <p:cNvSpPr/>
            <p:nvPr/>
          </p:nvSpPr>
          <p:spPr>
            <a:xfrm>
              <a:off x="1018749" y="96742"/>
              <a:ext cx="4978400" cy="589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2700" b="1" kern="0" spc="5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节目亮点：</a:t>
              </a:r>
              <a:r>
                <a:rPr sz="2700" kern="0" spc="-6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2700" b="1" kern="0" spc="5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优秀传统文化的传承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  <a:p>
              <a:pPr marL="43180" algn="l" rtl="0" eaLnBrk="0">
                <a:lnSpc>
                  <a:spcPct val="84000"/>
                </a:lnSpc>
                <a:spcBef>
                  <a:spcPts val="9"/>
                </a:spcBef>
                <a:tabLst/>
              </a:pP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U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-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8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N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E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276" name="picture 27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206184" y="104775"/>
              <a:ext cx="421004" cy="520064"/>
            </a:xfrm>
            <a:prstGeom prst="rect">
              <a:avLst/>
            </a:prstGeom>
          </p:spPr>
        </p:pic>
      </p:grpSp>
      <p:sp>
        <p:nvSpPr>
          <p:cNvPr id="278" name="textbox 278"/>
          <p:cNvSpPr/>
          <p:nvPr/>
        </p:nvSpPr>
        <p:spPr>
          <a:xfrm>
            <a:off x="967511" y="5758162"/>
            <a:ext cx="6186805" cy="652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10" algn="l" rtl="0" eaLnBrk="0">
              <a:lnSpc>
                <a:spcPct val="90000"/>
              </a:lnSpc>
              <a:tabLst/>
            </a:pPr>
            <a:r>
              <a:rPr sz="2000" kern="0" spc="-6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故事</a:t>
            </a:r>
            <a:r>
              <a:rPr sz="2000" kern="0" spc="-26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000" kern="0" spc="-6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、文化载歌出圈</a:t>
            </a:r>
            <a:endParaRPr sz="20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3"/>
              </a:spcBef>
              <a:tabLst/>
            </a:pP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用第一人称视角观察城市</a:t>
            </a:r>
            <a:r>
              <a:rPr sz="1700" kern="0" spc="-2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，再用音</a:t>
            </a:r>
            <a:r>
              <a:rPr sz="17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符将对城市的感知谱成歌曲</a:t>
            </a:r>
            <a:endParaRPr sz="17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80" name="picture 28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639300" y="5763767"/>
            <a:ext cx="2062529" cy="791596"/>
          </a:xfrm>
          <a:prstGeom prst="rect">
            <a:avLst/>
          </a:prstGeom>
        </p:spPr>
      </p:pic>
      <p:sp>
        <p:nvSpPr>
          <p:cNvPr id="282" name="textbox 282"/>
          <p:cNvSpPr/>
          <p:nvPr/>
        </p:nvSpPr>
        <p:spPr>
          <a:xfrm>
            <a:off x="731812" y="1211154"/>
            <a:ext cx="3253105" cy="465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3200" kern="0" spc="-3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音乐唤醒文化血脉</a:t>
            </a:r>
            <a:endParaRPr sz="3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6597066" y="5262473"/>
            <a:ext cx="2000250" cy="368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抗战老兵</a:t>
            </a:r>
            <a:r>
              <a:rPr sz="1200" kern="0" spc="-1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、非遗传承人</a:t>
            </a:r>
            <a:r>
              <a:rPr sz="1200" kern="0" spc="-1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、固沙</a:t>
            </a:r>
            <a:endParaRPr sz="1200" dirty="0">
              <a:latin typeface="PingFang SC"/>
              <a:ea typeface="PingFang SC"/>
              <a:cs typeface="PingFang SC"/>
            </a:endParaRPr>
          </a:p>
          <a:p>
            <a:pPr marL="394970" algn="l" rtl="0" eaLnBrk="0">
              <a:lnSpc>
                <a:spcPct val="90000"/>
              </a:lnSpc>
              <a:spcBef>
                <a:spcPts val="118"/>
              </a:spcBef>
              <a:tabLst/>
            </a:pPr>
            <a:r>
              <a:rPr sz="1200" kern="0" spc="-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英雄</a:t>
            </a:r>
            <a:r>
              <a:rPr sz="1200" kern="0" spc="-1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、守塔人</a:t>
            </a:r>
            <a:r>
              <a:rPr sz="1200" kern="0" spc="-2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…</a:t>
            </a:r>
            <a:r>
              <a:rPr sz="1200" kern="0" spc="-2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…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893368" y="5260645"/>
            <a:ext cx="2150110" cy="187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华阴老腔</a:t>
            </a:r>
            <a:r>
              <a:rPr sz="1200" kern="0" spc="-1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、呼麦</a:t>
            </a:r>
            <a:r>
              <a:rPr sz="1200" kern="0" spc="-1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、广西</a:t>
            </a:r>
            <a:r>
              <a:rPr sz="1200" kern="0" spc="-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山歌</a:t>
            </a:r>
            <a:r>
              <a:rPr sz="1200" kern="0" spc="-2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…</a:t>
            </a:r>
            <a:r>
              <a:rPr sz="1200" kern="0" spc="-2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…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88" name="textbox 288"/>
          <p:cNvSpPr/>
          <p:nvPr/>
        </p:nvSpPr>
        <p:spPr>
          <a:xfrm>
            <a:off x="9381922" y="5259425"/>
            <a:ext cx="1845945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企业家精神</a:t>
            </a:r>
            <a:r>
              <a:rPr sz="1200" kern="0" spc="-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、工匠精神</a:t>
            </a:r>
            <a:r>
              <a:rPr sz="1200" kern="0" spc="-2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…</a:t>
            </a:r>
            <a:r>
              <a:rPr sz="1200" kern="0" spc="-2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…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90" name="textbox 290"/>
          <p:cNvSpPr/>
          <p:nvPr/>
        </p:nvSpPr>
        <p:spPr>
          <a:xfrm>
            <a:off x="3948709" y="5260340"/>
            <a:ext cx="1697354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傩戏、淮剧</a:t>
            </a:r>
            <a:r>
              <a:rPr sz="1200" kern="0" spc="-1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、花鼓戏</a:t>
            </a:r>
            <a:r>
              <a:rPr sz="1200" kern="0" spc="-2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…</a:t>
            </a:r>
            <a:r>
              <a:rPr sz="1200" kern="0" spc="-2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…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picture 2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94" name="textbox 294"/>
          <p:cNvSpPr/>
          <p:nvPr/>
        </p:nvSpPr>
        <p:spPr>
          <a:xfrm>
            <a:off x="284988" y="228282"/>
            <a:ext cx="4675505" cy="711200"/>
          </a:xfrm>
          <a:prstGeom prst="rect">
            <a:avLst/>
          </a:prstGeom>
          <a:solidFill>
            <a:srgbClr val="C9EDFE">
              <a:alpha val="97254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031239" algn="l" rtl="0" eaLnBrk="0">
              <a:lnSpc>
                <a:spcPct val="93000"/>
              </a:lnSpc>
              <a:spcBef>
                <a:spcPts val="7"/>
              </a:spcBef>
              <a:tabLst/>
            </a:pPr>
            <a:r>
              <a:rPr sz="2700" b="1" kern="0" spc="4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节目制播信息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marL="1061720" algn="l" rtl="0" eaLnBrk="0">
              <a:lnSpc>
                <a:spcPct val="84000"/>
              </a:lnSpc>
              <a:spcBef>
                <a:spcPts val="9"/>
              </a:spcBef>
              <a:tabLst/>
            </a:pPr>
            <a:r>
              <a:rPr sz="1400" b="1" kern="0" spc="-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O</a:t>
            </a:r>
            <a:r>
              <a:rPr sz="1400" kern="0" spc="20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400" b="1" kern="0" spc="-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U</a:t>
            </a:r>
            <a:r>
              <a:rPr sz="1400" kern="0" spc="20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400" b="1" kern="0" spc="-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R</a:t>
            </a:r>
            <a:r>
              <a:rPr sz="1400" kern="0" spc="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</a:t>
            </a:r>
            <a:r>
              <a:rPr sz="1400" b="1" kern="0" spc="-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400" kern="0" spc="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</a:t>
            </a:r>
            <a:r>
              <a:rPr sz="1400" b="1" kern="0" spc="-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C</a:t>
            </a:r>
            <a:r>
              <a:rPr sz="1400" kern="0" spc="18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400" b="1" kern="0" spc="-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O</a:t>
            </a:r>
            <a:r>
              <a:rPr sz="1400" kern="0" spc="17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400" b="1" kern="0" spc="-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N</a:t>
            </a:r>
            <a:r>
              <a:rPr sz="1400" kern="0" spc="16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400" b="1" kern="0" spc="-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C</a:t>
            </a:r>
            <a:r>
              <a:rPr sz="1400" kern="0" spc="17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400" b="1" kern="0" spc="-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E</a:t>
            </a:r>
            <a:r>
              <a:rPr sz="1400" kern="0" spc="20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400" b="1" kern="0" spc="-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R</a:t>
            </a:r>
            <a:r>
              <a:rPr sz="1400" kern="0" spc="16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400" b="1" kern="0" spc="-30" dirty="0">
                <a:solidFill>
                  <a:srgbClr val="26262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91172" y="266280"/>
            <a:ext cx="11504232" cy="5459029"/>
          </a:xfrm>
          <a:prstGeom prst="rect">
            <a:avLst/>
          </a:prstGeom>
        </p:spPr>
      </p:pic>
      <p:sp>
        <p:nvSpPr>
          <p:cNvPr id="298" name="textbox 298"/>
          <p:cNvSpPr/>
          <p:nvPr/>
        </p:nvSpPr>
        <p:spPr>
          <a:xfrm>
            <a:off x="4027323" y="1871029"/>
            <a:ext cx="5693410" cy="3244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ts val="3521"/>
              </a:lnSpc>
              <a:tabLst/>
            </a:pP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节目名称</a:t>
            </a:r>
            <a:r>
              <a:rPr sz="2700" kern="0" spc="-4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：《我们的音乐会》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ct val="92000"/>
              </a:lnSpc>
              <a:spcBef>
                <a:spcPts val="1265"/>
              </a:spcBef>
              <a:tabLst/>
            </a:pPr>
            <a:r>
              <a:rPr sz="2700" kern="0" spc="1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播出平台</a:t>
            </a:r>
            <a:r>
              <a:rPr sz="2700" kern="0" spc="-4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kern="0" spc="1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2700" kern="0" spc="-7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kern="0" spc="1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芒果</a:t>
            </a: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TV</a:t>
            </a:r>
            <a:r>
              <a:rPr sz="2700" kern="0" spc="1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+省级卫视</a:t>
            </a:r>
            <a:r>
              <a:rPr sz="2700" kern="0" spc="1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+抖音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marL="19050" algn="l" rtl="0" eaLnBrk="0">
              <a:lnSpc>
                <a:spcPct val="90000"/>
              </a:lnSpc>
              <a:spcBef>
                <a:spcPts val="1471"/>
              </a:spcBef>
              <a:tabLst/>
            </a:pP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节目时长</a:t>
            </a:r>
            <a:r>
              <a:rPr sz="2700" kern="0" spc="-3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：60分钟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ts val="3521"/>
              </a:lnSpc>
              <a:spcBef>
                <a:spcPts val="940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播出形式</a:t>
            </a:r>
            <a:r>
              <a:rPr sz="2700" kern="0" spc="-3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：周播/10期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marL="13334" algn="l" rtl="0" eaLnBrk="0">
              <a:lnSpc>
                <a:spcPct val="93000"/>
              </a:lnSpc>
              <a:spcBef>
                <a:spcPts val="1291"/>
              </a:spcBef>
              <a:tabLst/>
            </a:pP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录制周期</a:t>
            </a:r>
            <a:r>
              <a:rPr sz="2700" kern="0" spc="-3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2700" kern="0" spc="-8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2024年4-5月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521"/>
              </a:lnSpc>
              <a:spcBef>
                <a:spcPts val="5"/>
              </a:spcBef>
              <a:tabLst/>
            </a:pP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播出时间</a:t>
            </a:r>
            <a:r>
              <a:rPr sz="2700" kern="0" spc="-4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2700" kern="0" spc="-7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2024年6</a:t>
            </a:r>
            <a:r>
              <a:rPr sz="2700" kern="0" spc="1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-7月（拟定）</a:t>
            </a:r>
            <a:endParaRPr sz="27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300" name="picture 3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639300" y="5763767"/>
            <a:ext cx="2062529" cy="791596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774553" y="5971539"/>
            <a:ext cx="1537274" cy="451974"/>
          </a:xfrm>
          <a:prstGeom prst="rect">
            <a:avLst/>
          </a:prstGeom>
        </p:spPr>
      </p:pic>
      <p:pic>
        <p:nvPicPr>
          <p:cNvPr id="304" name="picture 3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990160" y="5909478"/>
            <a:ext cx="572918" cy="608799"/>
          </a:xfrm>
          <a:prstGeom prst="rect">
            <a:avLst/>
          </a:prstGeom>
        </p:spPr>
      </p:pic>
      <p:pic>
        <p:nvPicPr>
          <p:cNvPr id="306" name="picture 30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64894" y="6084723"/>
            <a:ext cx="678671" cy="3031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picture 3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 rot="21600000">
            <a:off x="743267" y="1656079"/>
            <a:ext cx="6195060" cy="1706879"/>
            <a:chOff x="0" y="0"/>
            <a:chExt cx="6195060" cy="1706879"/>
          </a:xfrm>
        </p:grpSpPr>
        <p:sp>
          <p:nvSpPr>
            <p:cNvPr id="310" name="rect 310"/>
            <p:cNvSpPr/>
            <p:nvPr/>
          </p:nvSpPr>
          <p:spPr>
            <a:xfrm>
              <a:off x="0" y="0"/>
              <a:ext cx="6195060" cy="1706879"/>
            </a:xfrm>
            <a:prstGeom prst="rect">
              <a:avLst/>
            </a:prstGeom>
            <a:solidFill>
              <a:srgbClr val="FFF1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2" name="textbox 312"/>
            <p:cNvSpPr/>
            <p:nvPr/>
          </p:nvSpPr>
          <p:spPr>
            <a:xfrm>
              <a:off x="1492680" y="83286"/>
              <a:ext cx="4158615" cy="13417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65530" algn="l" rtl="0" eaLnBrk="0">
                <a:lnSpc>
                  <a:spcPts val="3024"/>
                </a:lnSpc>
                <a:tabLst/>
              </a:pPr>
              <a:r>
                <a:rPr sz="2300" kern="0" spc="-2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《路演进行时》</a:t>
              </a:r>
              <a:endParaRPr sz="2300" dirty="0">
                <a:latin typeface="PingFang SC"/>
                <a:ea typeface="PingFang SC"/>
                <a:cs typeface="PingFang SC"/>
              </a:endParaRPr>
            </a:p>
            <a:p>
              <a:pPr marL="12700" indent="3810" algn="l" rtl="0" eaLnBrk="0">
                <a:lnSpc>
                  <a:spcPct val="101000"/>
                </a:lnSpc>
                <a:spcBef>
                  <a:spcPts val="852"/>
                </a:spcBef>
                <a:tabLst/>
              </a:pPr>
              <a:r>
                <a:rPr sz="1400" kern="0" spc="1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9位音乐人接受商场/购物中心/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汽车影院/露营基地邀 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请</a:t>
              </a:r>
              <a:r>
                <a:rPr sz="1400" kern="0" spc="-25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，进行节目原创歌曲汇</a:t>
              </a:r>
              <a:r>
                <a:rPr sz="1400" kern="0" spc="-3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演。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3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1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1910" algn="l" rtl="0" eaLnBrk="0">
                <a:lnSpc>
                  <a:spcPct val="89000"/>
                </a:lnSpc>
                <a:tabLst/>
              </a:pPr>
              <a:r>
                <a:rPr sz="1400" b="1" kern="0" spc="-40" dirty="0">
                  <a:solidFill>
                    <a:srgbClr val="E7207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随性演出</a:t>
              </a:r>
              <a:r>
                <a:rPr sz="1400" kern="0" spc="-160" dirty="0">
                  <a:solidFill>
                    <a:srgbClr val="E7207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400" b="1" kern="0" spc="-40" dirty="0">
                  <a:solidFill>
                    <a:srgbClr val="E7207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，让音乐更为纯粹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314" name="picture 3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31305" y="37465"/>
              <a:ext cx="1194053" cy="1600962"/>
            </a:xfrm>
            <a:prstGeom prst="rect">
              <a:avLst/>
            </a:prstGeom>
          </p:spPr>
        </p:pic>
      </p:grpSp>
      <p:grpSp>
        <p:nvGrpSpPr>
          <p:cNvPr id="58" name="group 58"/>
          <p:cNvGrpSpPr/>
          <p:nvPr/>
        </p:nvGrpSpPr>
        <p:grpSpPr>
          <a:xfrm rot="21600000">
            <a:off x="5364162" y="3808730"/>
            <a:ext cx="6195060" cy="1706879"/>
            <a:chOff x="0" y="0"/>
            <a:chExt cx="6195060" cy="1706879"/>
          </a:xfrm>
        </p:grpSpPr>
        <p:sp>
          <p:nvSpPr>
            <p:cNvPr id="316" name="rect 316"/>
            <p:cNvSpPr/>
            <p:nvPr/>
          </p:nvSpPr>
          <p:spPr>
            <a:xfrm>
              <a:off x="0" y="0"/>
              <a:ext cx="6195060" cy="1706879"/>
            </a:xfrm>
            <a:prstGeom prst="rect">
              <a:avLst/>
            </a:prstGeom>
            <a:solidFill>
              <a:srgbClr val="FFF1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8" name="textbox 318"/>
            <p:cNvSpPr/>
            <p:nvPr/>
          </p:nvSpPr>
          <p:spPr>
            <a:xfrm>
              <a:off x="1586498" y="78206"/>
              <a:ext cx="4086859" cy="13671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23645" algn="l" rtl="0" eaLnBrk="0">
                <a:lnSpc>
                  <a:spcPts val="3023"/>
                </a:lnSpc>
                <a:tabLst/>
              </a:pPr>
              <a:r>
                <a:rPr sz="2300" kern="0" spc="-2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《唱作人日记》</a:t>
              </a:r>
              <a:endParaRPr sz="2300" dirty="0">
                <a:latin typeface="PingFang SC"/>
                <a:ea typeface="PingFang SC"/>
                <a:cs typeface="PingFang SC"/>
              </a:endParaRPr>
            </a:p>
            <a:p>
              <a:pPr marL="14605" indent="-1905" algn="l" rtl="0" eaLnBrk="0">
                <a:lnSpc>
                  <a:spcPct val="101000"/>
                </a:lnSpc>
                <a:spcBef>
                  <a:spcPts val="942"/>
                </a:spcBef>
                <a:tabLst/>
              </a:pPr>
              <a:r>
                <a:rPr sz="1400" kern="0" spc="1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9位音乐人的创作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vlog</a:t>
              </a:r>
              <a:r>
                <a:rPr sz="1400" kern="0" spc="-21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400" kern="0" spc="1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，真实记录原创作品诞生的苦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400" kern="0" spc="-4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与乐</a:t>
              </a:r>
              <a:r>
                <a:rPr sz="1400" kern="0" spc="-18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400" kern="0" spc="-4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，引发大众共鸣。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09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4615" algn="l" rtl="0" eaLnBrk="0">
                <a:lnSpc>
                  <a:spcPts val="1770"/>
                </a:lnSpc>
                <a:tabLst/>
              </a:pPr>
              <a:r>
                <a:rPr sz="1400" b="1" kern="0" spc="0" dirty="0">
                  <a:solidFill>
                    <a:srgbClr val="E7207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Deadline</a:t>
              </a:r>
              <a:r>
                <a:rPr sz="1400" kern="0" spc="180" dirty="0">
                  <a:solidFill>
                    <a:srgbClr val="E7207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400" b="1" kern="0" spc="50" dirty="0">
                  <a:solidFill>
                    <a:srgbClr val="E7207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对所有人都一视同仁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320" name="picture 3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5938" y="19939"/>
              <a:ext cx="1235202" cy="1613153"/>
            </a:xfrm>
            <a:prstGeom prst="rect">
              <a:avLst/>
            </a:prstGeom>
          </p:spPr>
        </p:pic>
      </p:grpSp>
      <p:sp>
        <p:nvSpPr>
          <p:cNvPr id="322" name="textbox 322"/>
          <p:cNvSpPr/>
          <p:nvPr/>
        </p:nvSpPr>
        <p:spPr>
          <a:xfrm>
            <a:off x="724928" y="4010126"/>
            <a:ext cx="3868420" cy="1547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87"/>
              </a:lnSpc>
              <a:tabLst/>
            </a:pPr>
            <a:r>
              <a:rPr sz="2300" kern="0" spc="6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想词想到头秃？</a:t>
            </a:r>
            <a:endParaRPr sz="2300" dirty="0">
              <a:latin typeface="PingFang SC"/>
              <a:ea typeface="PingFang SC"/>
              <a:cs typeface="PingFang SC"/>
            </a:endParaRPr>
          </a:p>
          <a:p>
            <a:pPr marL="14605" algn="l" rtl="0" eaLnBrk="0">
              <a:lnSpc>
                <a:spcPts val="2773"/>
              </a:lnSpc>
              <a:spcBef>
                <a:spcPts val="71"/>
              </a:spcBef>
              <a:tabLst/>
            </a:pPr>
            <a:r>
              <a:rPr sz="2300" kern="0" spc="6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押韵强迫症？</a:t>
            </a:r>
            <a:endParaRPr sz="2300" dirty="0">
              <a:latin typeface="PingFang SC"/>
              <a:ea typeface="PingFang SC"/>
              <a:cs typeface="PingFang SC"/>
            </a:endParaRPr>
          </a:p>
          <a:p>
            <a:pPr marL="14605" indent="-1905" algn="l" rtl="0" eaLnBrk="0">
              <a:lnSpc>
                <a:spcPct val="111000"/>
              </a:lnSpc>
              <a:spcBef>
                <a:spcPts val="23"/>
              </a:spcBef>
              <a:tabLst/>
            </a:pPr>
            <a:r>
              <a:rPr sz="2300" kern="0" spc="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好听</a:t>
            </a:r>
            <a:r>
              <a:rPr sz="2300" kern="0" spc="-33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，但是感觉还可以更好？ </a:t>
            </a:r>
            <a:r>
              <a:rPr sz="2300" kern="0" spc="6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再改最后一稿？</a:t>
            </a:r>
            <a:endParaRPr sz="2300" dirty="0">
              <a:latin typeface="PingFang SC"/>
              <a:ea typeface="PingFang SC"/>
              <a:cs typeface="PingFang SC"/>
            </a:endParaRPr>
          </a:p>
        </p:txBody>
      </p:sp>
      <p:grpSp>
        <p:nvGrpSpPr>
          <p:cNvPr id="60" name="group 60"/>
          <p:cNvGrpSpPr/>
          <p:nvPr/>
        </p:nvGrpSpPr>
        <p:grpSpPr>
          <a:xfrm rot="21600000">
            <a:off x="284988" y="228282"/>
            <a:ext cx="4674997" cy="710819"/>
            <a:chOff x="0" y="0"/>
            <a:chExt cx="4674997" cy="710819"/>
          </a:xfrm>
        </p:grpSpPr>
        <p:sp>
          <p:nvSpPr>
            <p:cNvPr id="324" name="rect 324"/>
            <p:cNvSpPr/>
            <p:nvPr/>
          </p:nvSpPr>
          <p:spPr>
            <a:xfrm>
              <a:off x="0" y="0"/>
              <a:ext cx="4674997" cy="710819"/>
            </a:xfrm>
            <a:prstGeom prst="rect">
              <a:avLst/>
            </a:prstGeom>
            <a:solidFill>
              <a:srgbClr val="C9EDFE">
                <a:alpha val="97254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6" name="textbox 326"/>
            <p:cNvSpPr/>
            <p:nvPr/>
          </p:nvSpPr>
          <p:spPr>
            <a:xfrm>
              <a:off x="1018749" y="96742"/>
              <a:ext cx="3456940" cy="589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2700" b="1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节目衍生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  <a:p>
              <a:pPr marL="43180" algn="l" rtl="0" eaLnBrk="0">
                <a:lnSpc>
                  <a:spcPct val="84000"/>
                </a:lnSpc>
                <a:spcBef>
                  <a:spcPts val="9"/>
                </a:spcBef>
                <a:tabLst/>
              </a:pP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U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-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8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N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E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328" name="picture 3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206184" y="104775"/>
              <a:ext cx="421004" cy="520064"/>
            </a:xfrm>
            <a:prstGeom prst="rect">
              <a:avLst/>
            </a:prstGeom>
          </p:spPr>
        </p:pic>
      </p:grpSp>
      <p:sp>
        <p:nvSpPr>
          <p:cNvPr id="330" name="textbox 330"/>
          <p:cNvSpPr/>
          <p:nvPr/>
        </p:nvSpPr>
        <p:spPr>
          <a:xfrm>
            <a:off x="7432637" y="2083181"/>
            <a:ext cx="2760345" cy="737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1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7620" algn="l" rtl="0" eaLnBrk="0">
              <a:lnSpc>
                <a:spcPct val="102000"/>
              </a:lnSpc>
              <a:tabLst/>
            </a:pPr>
            <a:r>
              <a:rPr sz="2300" kern="0" spc="8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大胆丢弃音乐人光环</a:t>
            </a:r>
            <a:r>
              <a:rPr sz="2300" kern="0" spc="3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300" kern="0" spc="8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近距离直面听众</a:t>
            </a:r>
            <a:endParaRPr sz="23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332" name="picture 3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639300" y="5763767"/>
            <a:ext cx="2062529" cy="7915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picture 3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36" name="table 336"/>
          <p:cNvGraphicFramePr>
            <a:graphicFrameLocks noGrp="1"/>
          </p:cNvGraphicFramePr>
          <p:nvPr/>
        </p:nvGraphicFramePr>
        <p:xfrm>
          <a:off x="496569" y="1395729"/>
          <a:ext cx="8125460" cy="4177030"/>
        </p:xfrm>
        <a:graphic>
          <a:graphicData uri="http://schemas.openxmlformats.org/drawingml/2006/table">
            <a:tbl>
              <a:tblPr/>
              <a:tblGrid>
                <a:gridCol w="3418839"/>
                <a:gridCol w="1692910"/>
                <a:gridCol w="1622425"/>
                <a:gridCol w="1391285"/>
              </a:tblGrid>
              <a:tr h="375920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9365" algn="l" rtl="0" eaLnBrk="0">
                        <a:lnSpc>
                          <a:spcPct val="100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700" kern="0" spc="60" dirty="0">
                          <a:solidFill>
                            <a:srgbClr val="E7207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合作权益</a:t>
                      </a:r>
                      <a:r>
                        <a:rPr sz="1700" kern="0" spc="20" dirty="0">
                          <a:solidFill>
                            <a:srgbClr val="E7207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    </a:t>
                      </a:r>
                      <a:r>
                        <a:rPr sz="1700" kern="0" spc="10" dirty="0">
                          <a:solidFill>
                            <a:srgbClr val="E7207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</a:t>
                      </a:r>
                      <a:r>
                        <a:rPr sz="1700" kern="0" spc="60" dirty="0">
                          <a:solidFill>
                            <a:srgbClr val="E7207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冠名品牌          </a:t>
                      </a:r>
                      <a:r>
                        <a:rPr sz="1700" kern="0" spc="50" dirty="0">
                          <a:solidFill>
                            <a:srgbClr val="E7207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赞助品牌        </a:t>
                      </a:r>
                      <a:r>
                        <a:rPr sz="1700" kern="0" spc="50" dirty="0">
                          <a:solidFill>
                            <a:srgbClr val="E7207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指定城市</a:t>
                      </a:r>
                      <a:endParaRPr sz="1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00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400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片头片尾联合</a:t>
                      </a:r>
                      <a:r>
                        <a:rPr sz="14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LOGO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4545" algn="l" rtl="0" eaLnBrk="0">
                        <a:lnSpc>
                          <a:spcPts val="1915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1350" indent="97155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其他宣传物料</a:t>
                      </a:r>
                      <a:r>
                        <a:rPr sz="14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LOGO</a:t>
                      </a:r>
                      <a:r>
                        <a:rPr sz="14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露出</a:t>
                      </a:r>
                      <a:r>
                        <a:rPr sz="14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    </a:t>
                      </a:r>
                      <a:r>
                        <a:rPr sz="900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如</a:t>
                      </a:r>
                      <a:r>
                        <a:rPr sz="900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：艺人官宣海报</a:t>
                      </a:r>
                      <a:r>
                        <a:rPr sz="900" kern="0" spc="-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、播出倒计时海报等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4545" algn="l" rtl="0" eaLnBrk="0">
                        <a:lnSpc>
                          <a:spcPts val="1915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985" algn="l" rtl="0" eaLnBrk="0">
                        <a:lnSpc>
                          <a:spcPts val="1915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ts val="1915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0920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节目宣传素材授权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4545" algn="l" rtl="0" eaLnBrk="0">
                        <a:lnSpc>
                          <a:spcPts val="191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985" algn="l" rtl="0" eaLnBrk="0">
                        <a:lnSpc>
                          <a:spcPts val="191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ts val="191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872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节目中插广告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942975" algn="l" rtl="0" eaLnBrk="0">
                        <a:lnSpc>
                          <a:spcPts val="1253"/>
                        </a:lnSpc>
                        <a:tabLst/>
                      </a:pPr>
                      <a:r>
                        <a:rPr sz="9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后期口播+品牌摆台/宣传片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4545" algn="l" rtl="0" eaLnBrk="0">
                        <a:lnSpc>
                          <a:spcPts val="1915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985" algn="l" rtl="0" eaLnBrk="0">
                        <a:lnSpc>
                          <a:spcPts val="1915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ts val="1915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2020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节目采风任务软植入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4545" algn="l" rtl="0" eaLnBrk="0">
                        <a:lnSpc>
                          <a:spcPts val="191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985" algn="l" rtl="0" eaLnBrk="0">
                        <a:lnSpc>
                          <a:spcPts val="191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ts val="191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4220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节目艺人试吃</a:t>
                      </a:r>
                      <a:r>
                        <a:rPr sz="1400" kern="0" spc="-2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、体验镜</a:t>
                      </a:r>
                      <a:r>
                        <a:rPr sz="14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头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4545" algn="l" rtl="0" eaLnBrk="0">
                        <a:lnSpc>
                          <a:spcPts val="191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985" algn="l" rtl="0" eaLnBrk="0">
                        <a:lnSpc>
                          <a:spcPts val="191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ts val="191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3120" algn="l" rtl="0" eaLnBrk="0">
                        <a:lnSpc>
                          <a:spcPct val="9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节目艺人商务短剧拍摄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9135" algn="l" rtl="0" eaLnBrk="0">
                        <a:lnSpc>
                          <a:spcPct val="8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15s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1670" algn="l" rtl="0" eaLnBrk="0">
                        <a:lnSpc>
                          <a:spcPct val="8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10s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4830" algn="l" rtl="0" eaLnBrk="0">
                        <a:lnSpc>
                          <a:spcPct val="8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15s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37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009" algn="l" rtl="0" eaLnBrk="0">
                        <a:lnSpc>
                          <a:spcPct val="91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合作品牌</a:t>
                      </a:r>
                      <a:r>
                        <a:rPr sz="14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LOGO</a:t>
                      </a:r>
                      <a:r>
                        <a:rPr sz="14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在媒体硬广宣传中呈现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4545" algn="l" rtl="0" eaLnBrk="0">
                        <a:lnSpc>
                          <a:spcPts val="1915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985" algn="l" rtl="0" eaLnBrk="0">
                        <a:lnSpc>
                          <a:spcPts val="1915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ts val="1915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7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31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软文报道提及</a:t>
                      </a:r>
                      <a:r>
                        <a:rPr sz="9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（文章需有品牌名露出）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4545" algn="l" rtl="0" eaLnBrk="0">
                        <a:lnSpc>
                          <a:spcPts val="191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985" algn="l" rtl="0" eaLnBrk="0">
                        <a:lnSpc>
                          <a:spcPts val="191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ts val="191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8670" algn="l" rtl="0" eaLnBrk="0">
                        <a:lnSpc>
                          <a:spcPts val="177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第二季优先冠名/赞助权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4545" algn="l" rtl="0" eaLnBrk="0">
                        <a:lnSpc>
                          <a:spcPts val="1915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985" algn="l" rtl="0" eaLnBrk="0">
                        <a:lnSpc>
                          <a:spcPts val="1915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ts val="1915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√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8" name="textbox 338"/>
          <p:cNvSpPr/>
          <p:nvPr/>
        </p:nvSpPr>
        <p:spPr>
          <a:xfrm>
            <a:off x="8945296" y="2564968"/>
            <a:ext cx="2803525" cy="192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9110" algn="l" rtl="0" eaLnBrk="0">
              <a:lnSpc>
                <a:spcPct val="91000"/>
              </a:lnSpc>
              <a:tabLst/>
            </a:pPr>
            <a:r>
              <a:rPr sz="3500" kern="0" spc="5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招商目标</a:t>
            </a:r>
            <a:endParaRPr sz="35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ct val="95000"/>
              </a:lnSpc>
              <a:spcBef>
                <a:spcPts val="521"/>
              </a:spcBef>
              <a:tabLst/>
            </a:pPr>
            <a:r>
              <a:rPr sz="1700" kern="0" spc="14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冠名商</a:t>
            </a:r>
            <a:r>
              <a:rPr sz="1700" kern="0" spc="-18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kern="0" spc="14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：1家</a:t>
            </a:r>
            <a:r>
              <a:rPr sz="1700" kern="0" spc="3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</a:t>
            </a:r>
            <a:r>
              <a:rPr sz="1700" kern="0" spc="14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2000W</a:t>
            </a:r>
            <a:endParaRPr sz="17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ts val="2267"/>
              </a:lnSpc>
              <a:spcBef>
                <a:spcPts val="591"/>
              </a:spcBef>
              <a:tabLst/>
            </a:pPr>
            <a:r>
              <a:rPr sz="1700" kern="0" spc="13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品牌赞助</a:t>
            </a:r>
            <a:r>
              <a:rPr sz="1700" kern="0" spc="-25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kern="0" spc="13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：7家</a:t>
            </a:r>
            <a:r>
              <a:rPr sz="1700" kern="0" spc="20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700" kern="0" spc="13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300W</a:t>
            </a:r>
            <a:r>
              <a:rPr sz="1700" kern="0" spc="12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/家</a:t>
            </a:r>
            <a:endParaRPr sz="17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01295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700" kern="0" spc="13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指定城市</a:t>
            </a:r>
            <a:r>
              <a:rPr sz="1700" kern="0" spc="-24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kern="0" spc="13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：1个</a:t>
            </a:r>
            <a:r>
              <a:rPr sz="1700" kern="0" spc="20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700" kern="0" spc="13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50</a:t>
            </a:r>
            <a:r>
              <a:rPr sz="1700" kern="0" spc="120" dirty="0">
                <a:solidFill>
                  <a:srgbClr val="FFF1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0W</a:t>
            </a:r>
            <a:endParaRPr sz="1700" dirty="0">
              <a:latin typeface="PingFang SC"/>
              <a:ea typeface="PingFang SC"/>
              <a:cs typeface="PingFang SC"/>
            </a:endParaRPr>
          </a:p>
        </p:txBody>
      </p:sp>
      <p:grpSp>
        <p:nvGrpSpPr>
          <p:cNvPr id="62" name="group 62"/>
          <p:cNvGrpSpPr/>
          <p:nvPr/>
        </p:nvGrpSpPr>
        <p:grpSpPr>
          <a:xfrm rot="21600000">
            <a:off x="284988" y="228282"/>
            <a:ext cx="4674997" cy="710819"/>
            <a:chOff x="0" y="0"/>
            <a:chExt cx="4674997" cy="710819"/>
          </a:xfrm>
        </p:grpSpPr>
        <p:sp>
          <p:nvSpPr>
            <p:cNvPr id="340" name="rect 340"/>
            <p:cNvSpPr/>
            <p:nvPr/>
          </p:nvSpPr>
          <p:spPr>
            <a:xfrm>
              <a:off x="0" y="0"/>
              <a:ext cx="4674997" cy="710819"/>
            </a:xfrm>
            <a:prstGeom prst="rect">
              <a:avLst/>
            </a:prstGeom>
            <a:solidFill>
              <a:srgbClr val="C9EDFE">
                <a:alpha val="97254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2" name="textbox 342"/>
            <p:cNvSpPr/>
            <p:nvPr/>
          </p:nvSpPr>
          <p:spPr>
            <a:xfrm>
              <a:off x="1014134" y="96742"/>
              <a:ext cx="3461384" cy="589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2700" b="1" kern="0" spc="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品牌合作及权益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  <a:p>
              <a:pPr marL="47625" algn="l" rtl="0" eaLnBrk="0">
                <a:lnSpc>
                  <a:spcPct val="84000"/>
                </a:lnSpc>
                <a:spcBef>
                  <a:spcPts val="9"/>
                </a:spcBef>
                <a:tabLst/>
              </a:pP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U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-</a:t>
              </a:r>
              <a:r>
                <a:rPr sz="1400" kern="0" spc="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8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O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N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17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E</a:t>
              </a:r>
              <a:r>
                <a:rPr sz="1400" kern="0" spc="20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R</a:t>
              </a:r>
              <a:r>
                <a:rPr sz="1400" kern="0" spc="16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400" b="1" kern="0" spc="-30" dirty="0">
                  <a:solidFill>
                    <a:srgbClr val="262626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344" name="picture 3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06184" y="104775"/>
              <a:ext cx="421004" cy="520064"/>
            </a:xfrm>
            <a:prstGeom prst="rect">
              <a:avLst/>
            </a:prstGeom>
          </p:spPr>
        </p:pic>
      </p:grpSp>
      <p:pic>
        <p:nvPicPr>
          <p:cNvPr id="346" name="picture 3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639300" y="5763767"/>
            <a:ext cx="2062529" cy="7915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WPS 演示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2023-11-27T11:21:36Z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2025-01-05T22:46:19</vt:filetime>
  </property>
</Properties>
</file>